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here" id="{2cbe5d70-a7fc-d774-eb06-3ddee1fe0a17}">
          <p14:sldIdLst>
            <p14:sldId id="256"/>
          </p14:sldIdLst>
        </p14:section>
        <p14:section name="Open" id="{318e03ee-7d02-5ca8-3326-d3ab499b879c}">
          <p14:sldIdLst>
            <p14:sldId id="257"/>
            <p14:sldId id="258"/>
            <p14:sldId id="259"/>
            <p14:sldId id="260"/>
          </p14:sldIdLst>
        </p14:section>
        <p14:section name="Who we are" id="{bbc5e151-b179-d2aa-9bbf-300f8e080bd1}">
          <p14:sldIdLst>
            <p14:sldId id="261"/>
            <p14:sldId id="262"/>
            <p14:sldId id="263"/>
            <p14:sldId id="264"/>
          </p14:sldIdLst>
        </p14:section>
        <p14:section name="Problem and approach" id="{57e20849-01d6-08b6-5b11-f65376a43055}">
          <p14:sldIdLst>
            <p14:sldId id="265"/>
            <p14:sldId id="266"/>
            <p14:sldId id="267"/>
            <p14:sldId id="268"/>
            <p14:sldId id="269"/>
            <p14:sldId id="270"/>
            <p14:sldId id="271"/>
          </p14:sldIdLst>
        </p14:section>
        <p14:section name="Client’s numbers" id="{ef4a1894-dc22-e9ee-3436-b8e89c570cde}">
          <p14:sldIdLst>
            <p14:sldId id="272"/>
            <p14:sldId id="273"/>
            <p14:sldId id="274"/>
            <p14:sldId id="275"/>
            <p14:sldId id="276"/>
            <p14:sldId id="277"/>
            <p14:sldId id="278"/>
            <p14:sldId id="279"/>
            <p14:sldId id="280"/>
          </p14:sldIdLst>
        </p14:section>
        <p14:section name="Options" id="{0d264757-26b9-4456-917c-8909a48379f9}">
          <p14:sldIdLst>
            <p14:sldId id="281"/>
          </p14:sldIdLst>
        </p14:section>
        <p14:section name="Close" id="{61814da8-e52a-053b-1143-865ef6d6bd13}">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Duplicate this file for each new deck, then delete this slide.
To add a slide: Slide &gt; New slide, or duplicate the closest example below and change the words. To change a slide’s frame: Slide &gt; Apply layout &gt; a “Neufin ·” layout.
Everything is in Arial (Bold for titles), so the deck looks the same on every computer and in PowerPoint or PDF. Don’t change the font.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first slide. Photo above, Electric Violet below, split along the Stripe.
Title: what the client gets, in their words, on two lines: “Lower power costs for your 20 offices”, not “Renewable energy proposal”. Second line: who it’s for and the month.
Client logo: click the white cell, Insert &gt; Image, and fit their logo inside it with space around. If you don’t have a clean logo, delete the cell; never use a blurry one.
Photo: click it, Replace image, pick one from the design system’s Photography page. Keep the sky or a plain area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cover, when you have no good photo. Title says what the client gets, in their words, on two lines. Second line: who it’s for and the month.
Client logo: fit it inside the white cell top right, or delete the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for decks longer than ten slides. Up to six items, each a few words. Match the items to your section dividers.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a section in a longer deck. Number on the first line, section name below, as on the agenda. Skip dividers in decks under ten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the one “about us” slide in a first meeting. Keep six facts or remove a row to make three. Each fact: a short claim we can prove, then one line. Update the numbers (states, suppliers) when they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cells on a fixed grid. To add a logo: click a cell, then Insert &gt; Image, and fit the logo inside the cell with space around it. Never stretch a logo or change its colours. Pick logos the client will recognise, ideally from their industry.
Fewer than twelve? Delete a whole row, not single cells, so the grid stays even. Only use logos of customers who have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the client asks who we are. Three rows of six on the same grid, so logos line up in columns. Fit each logo inside its cell with space around it; never stretch it. Delete a row you don’t need, then move the rows below up so the gaps stay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a real customer, word for word, with their permission. One sentence that fits on two lines at this size; cut the rest. Name and role on the right, above the Stripe. No photo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big statement over a photo, to open a section or change pace. Keep it to two lines and one supporting sentence.
The photo sits under a Near Black shade so white text stays readable. To change it: click the photo (below the shade), Replace image. Pick a darker photo or one with a plain lower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message with one photo, text on the left. To change the photo: click it, then Replace image. Use photos from the design system’s Photography page: real Indian sites, no stock handshakes. Keep the text to two or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 of “Text and photo”. Alternate the two so a deck doesn’t feel repetitive. Same rules: one message, two or three lines, a real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the problem and our answer on one slide. Change the stages or months to match the client’s story. Keep the grey bar for their way and the violet bar for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work, in four steps. Use the same four words everywhere: Design, Discover, Deliver, Optimise. Keep each description to one sentence. To show where a client is today, move the violet line to that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 against the usual way. Neufin is always the last column and the only one tinted violet. Write facts, not adjectives. Up to six rows; use plain words instead of ticks and crosses.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offers, products or options side by side. Same structure in both panels: name, one sentence, three points. For three options with prices, use “Three options”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Starts the client’s part of the deck: what they spend today, from the bills they shared. One big number on the left, the breakdown on the right.
Figures here are examples. Replace every one, and check totals add up. Write money as ₹ with Cr or L; units as kWh, MW or MVA.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number that matters, drawn with the Stripe: the price steps down at the angle of the Neufin symbol. Use once per deck, for the headline saving.
Change the two prices and the title. Keep the old price on the left and the new one on the right; don’t move the Stripe.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over time, month by month. Grey bars for before, violet for after Neufin. Up to 12 bars.
The bars are shapes, so edit them directly: change each bar’s height so 10 L is the same height everywhere (the grey lines are 10, 20, 30 L). Replace the example months and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of a whole, such as the power mix. Three parts at most; group the rest as “Other”. Violet for Neufin’s sources, grey for the grid.
The ring is three arc shapes: drag each yellow handle to change its size, and keep the gaps. Update the big number and the list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trend over time: what they pay now against what they would pay with us. Black line for the grid, violet for Neufin. Two lines at most.
The lines are shapes: move each point’s end to its new value, using the ₹4, ₹8 and ₹12 lines as a guide. Always say which values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how the open-access price is built up, ending against the grid rate. Violet bars are Neufin’s price; grey bars are the charges added on top; the black bar is what they pay today.
The bars are shapes, so you can change them directly: edit the labels, then resize each bar so 1 ₹ = the same height everywhere. Replace the example values with the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Full-width table for site-by-site numbers. Thin grey lines between rows, numbers right-aligned, Neufin’s column in violet, total in the last row on Warm White.
Up to eight rows; put longer lists in an appendix. Add or remove rows with right-click &gt; Insert row / Delete row so the style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Full-width table with soft stripes instead of lines, for options or plans read across a row. The row we recommend is tinted violet.
Up to six rows. To move the recommendation, change the violet row back to white or Warm White and tint the new one Violet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of the client’s sites qualify. Title gives the answer. Counts on top, then sites below: “Yes” rows first, in violet. Up to seven rows here; put the full list in an appendix slide using the same table.
Never show customer numbers or account numbers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 for one state or group of sites. Up to three cards. Put the one we recommend first, with the violet outline and “Recommended”; the others stay grey.
Figures are examples. Keep the same four rows in every card so they compare line by line. Keep the footnote whenever tariffs are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every proposal with dates and owners, agreed in the meeting if you can. Up to five rows. The first step should be one the client can do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One request in the title, one line on what happens next, and your name, email and phone on the Stripe. Not “Thank you” and not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eufin · Cover">
    <p:bg>
      <p:bgPr>
        <a:solidFill>
          <a:srgbClr val="7E22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508000"/>
            <a:ext cx="3000375" cy="3556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6858000"/>
          </a:xfrm>
          <a:prstGeom prst="rect">
            <a:avLst/>
          </a:prstGeom>
        </p:spPr>
      </p:pic>
      <p:sp>
        <p:nvSpPr>
          <p:cNvPr id="4" name="Text 0"/>
          <p:cNvSpPr/>
          <p:nvPr>
            <p:ph idx="102" type="title" hasCustomPrompt="1"/>
          </p:nvPr>
        </p:nvSpPr>
        <p:spPr>
          <a:xfrm>
            <a:off x="609600" y="1625600"/>
            <a:ext cx="8191500" cy="1397000"/>
          </a:xfrm>
          <a:prstGeom prst="rect">
            <a:avLst/>
          </a:prstGeom>
          <a:noFill/>
          <a:ln/>
        </p:spPr>
        <p:txBody>
          <a:bodyPr wrap="square" rtlCol="0"/>
          <a:lstStyle>
            <a:lvl1pPr algn="l" indent="0" marL="0">
              <a:lnSpc>
                <a:spcPct val="105000"/>
              </a:lnSpc>
              <a:buNone/>
              <a:defRPr lang="en-US" sz="4800" b="1" dirty="0">
                <a:solidFill>
                  <a:srgbClr val="FFFFFF"/>
                </a:solidFill>
                <a:latin typeface="Arial" pitchFamily="34" charset="0"/>
                <a:ea typeface="Arial" pitchFamily="34" charset="-122"/>
                <a:cs typeface="Arial" pitchFamily="34" charset="-120"/>
              </a:defRPr>
            </a:lvl1pPr>
          </a:lstStyle>
          <a:p>
            <a:pPr algn="l" indent="0" marL="0">
              <a:lnSpc>
                <a:spcPct val="105000"/>
              </a:lnSpc>
              <a:buNone/>
            </a:pPr>
            <a:endParaRPr lang="en-US" sz="4800" dirty="0"/>
          </a:p>
        </p:txBody>
      </p:sp>
      <p:sp>
        <p:nvSpPr>
          <p:cNvPr id="5" name="Text 0"/>
          <p:cNvSpPr/>
          <p:nvPr>
            <p:ph idx="103" type="body" hasCustomPrompt="1"/>
          </p:nvPr>
        </p:nvSpPr>
        <p:spPr>
          <a:xfrm>
            <a:off x="609600" y="3302000"/>
            <a:ext cx="8191500" cy="609600"/>
          </a:xfrm>
          <a:prstGeom prst="rect">
            <a:avLst/>
          </a:prstGeom>
          <a:noFill/>
          <a:ln/>
        </p:spPr>
        <p:txBody>
          <a:bodyPr wrap="square" rtlCol="0"/>
          <a:lstStyle>
            <a:lvl1pPr algn="l" indent="0" marL="0">
              <a:lnSpc>
                <a:spcPct val="135000"/>
              </a:lnSpc>
              <a:buNone/>
              <a:defRPr lang="en-US" sz="1600" dirty="0">
                <a:solidFill>
                  <a:srgbClr val="FFFFFF"/>
                </a:solidFill>
                <a:latin typeface="Arial" pitchFamily="34" charset="0"/>
                <a:ea typeface="Arial" pitchFamily="34" charset="-122"/>
                <a:cs typeface="Arial" pitchFamily="34" charset="-120"/>
              </a:defRPr>
            </a:lvl1pPr>
          </a:lstStyle>
          <a:p>
            <a:pPr algn="l" indent="0" marL="0">
              <a:lnSpc>
                <a:spcPct val="135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eufin · Section divider">
    <p:bg>
      <p:bgPr>
        <a:solidFill>
          <a:srgbClr val="7E22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508000"/>
            <a:ext cx="3000375" cy="3556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6858000"/>
          </a:xfrm>
          <a:prstGeom prst="rect">
            <a:avLst/>
          </a:prstGeom>
        </p:spPr>
      </p:pic>
      <p:sp>
        <p:nvSpPr>
          <p:cNvPr id="4" name="Text 0"/>
          <p:cNvSpPr/>
          <p:nvPr>
            <p:ph idx="102" type="body" hasCustomPrompt="1"/>
          </p:nvPr>
        </p:nvSpPr>
        <p:spPr>
          <a:xfrm>
            <a:off x="609600" y="1981200"/>
            <a:ext cx="3556000" cy="304800"/>
          </a:xfrm>
          <a:prstGeom prst="rect">
            <a:avLst/>
          </a:prstGeom>
          <a:noFill/>
          <a:ln/>
        </p:spPr>
        <p:txBody>
          <a:bodyPr wrap="square" rtlCol="0"/>
          <a:lstStyle>
            <a:lvl1pPr algn="l" indent="0" marL="0">
              <a:lnSpc>
                <a:spcPct val="135000"/>
              </a:lnSpc>
              <a:buNone/>
              <a:defRPr lang="en-US" sz="1600" dirty="0">
                <a:solidFill>
                  <a:srgbClr val="FFFFFF"/>
                </a:solidFill>
                <a:latin typeface="Arial" pitchFamily="34" charset="0"/>
                <a:ea typeface="Arial" pitchFamily="34" charset="-122"/>
                <a:cs typeface="Arial" pitchFamily="34" charset="-120"/>
              </a:defRPr>
            </a:lvl1pPr>
          </a:lstStyle>
          <a:p>
            <a:pPr algn="l" indent="0" marL="0">
              <a:lnSpc>
                <a:spcPct val="135000"/>
              </a:lnSpc>
              <a:buNone/>
            </a:pPr>
            <a:endParaRPr lang="en-US" sz="1600" dirty="0"/>
          </a:p>
        </p:txBody>
      </p:sp>
      <p:sp>
        <p:nvSpPr>
          <p:cNvPr id="5" name="Text 0"/>
          <p:cNvSpPr/>
          <p:nvPr>
            <p:ph idx="103" type="title" hasCustomPrompt="1"/>
          </p:nvPr>
        </p:nvSpPr>
        <p:spPr>
          <a:xfrm>
            <a:off x="609600" y="2387600"/>
            <a:ext cx="9118600" cy="1397000"/>
          </a:xfrm>
          <a:prstGeom prst="rect">
            <a:avLst/>
          </a:prstGeom>
          <a:noFill/>
          <a:ln/>
        </p:spPr>
        <p:txBody>
          <a:bodyPr wrap="square" rtlCol="0"/>
          <a:lstStyle>
            <a:lvl1pPr algn="l" indent="0" marL="0">
              <a:lnSpc>
                <a:spcPct val="105000"/>
              </a:lnSpc>
              <a:buNone/>
              <a:defRPr lang="en-US" sz="4800" b="1" dirty="0">
                <a:solidFill>
                  <a:srgbClr val="FFFFFF"/>
                </a:solidFill>
                <a:latin typeface="Arial" pitchFamily="34" charset="0"/>
                <a:ea typeface="Arial" pitchFamily="34" charset="-122"/>
                <a:cs typeface="Arial" pitchFamily="34" charset="-120"/>
              </a:defRPr>
            </a:lvl1pPr>
          </a:lstStyle>
          <a:p>
            <a:pPr algn="l" indent="0" marL="0">
              <a:lnSpc>
                <a:spcPct val="105000"/>
              </a:lnSpc>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eufin · 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6311900"/>
            <a:ext cx="1714500" cy="203200"/>
          </a:xfrm>
          <a:prstGeom prst="rect">
            <a:avLst/>
          </a:prstGeom>
        </p:spPr>
      </p:pic>
      <p:sp>
        <p:nvSpPr>
          <p:cNvPr id="3" name="Text 0"/>
          <p:cNvSpPr/>
          <p:nvPr>
            <p:ph idx="101" type="title" hasCustomPrompt="1"/>
          </p:nvPr>
        </p:nvSpPr>
        <p:spPr>
          <a:xfrm>
            <a:off x="609600" y="558800"/>
            <a:ext cx="10972800" cy="863600"/>
          </a:xfrm>
          <a:prstGeom prst="rect">
            <a:avLst/>
          </a:prstGeom>
          <a:noFill/>
          <a:ln/>
        </p:spPr>
        <p:txBody>
          <a:bodyPr wrap="square" rtlCol="0"/>
          <a:lstStyle>
            <a:lvl1pPr algn="l" indent="0" marL="0">
              <a:lnSpc>
                <a:spcPct val="115000"/>
              </a:lnSpc>
              <a:buNone/>
              <a:defRPr lang="en-US" sz="2800" b="1" dirty="0">
                <a:solidFill>
                  <a:srgbClr val="19161F"/>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eufin · Text and imag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6311900"/>
            <a:ext cx="1714500" cy="203200"/>
          </a:xfrm>
          <a:prstGeom prst="rect">
            <a:avLst/>
          </a:prstGeom>
        </p:spPr>
      </p:pic>
      <p:sp>
        <p:nvSpPr>
          <p:cNvPr id="3" name="Text 0"/>
          <p:cNvSpPr/>
          <p:nvPr>
            <p:ph idx="101" type="title" hasCustomPrompt="1"/>
          </p:nvPr>
        </p:nvSpPr>
        <p:spPr>
          <a:xfrm>
            <a:off x="609600" y="558800"/>
            <a:ext cx="4483100" cy="1727200"/>
          </a:xfrm>
          <a:prstGeom prst="rect">
            <a:avLst/>
          </a:prstGeom>
          <a:noFill/>
          <a:ln/>
        </p:spPr>
        <p:txBody>
          <a:bodyPr wrap="square" rtlCol="0"/>
          <a:lstStyle>
            <a:lvl1pPr algn="l" indent="0" marL="0">
              <a:lnSpc>
                <a:spcPct val="115000"/>
              </a:lnSpc>
              <a:buNone/>
              <a:defRPr lang="en-US" sz="2800" b="1" dirty="0">
                <a:solidFill>
                  <a:srgbClr val="19161F"/>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4" name="Text 0"/>
          <p:cNvSpPr/>
          <p:nvPr>
            <p:ph idx="102" type="body" hasCustomPrompt="1"/>
          </p:nvPr>
        </p:nvSpPr>
        <p:spPr>
          <a:xfrm>
            <a:off x="609600" y="2540000"/>
            <a:ext cx="4483100" cy="2540000"/>
          </a:xfrm>
          <a:prstGeom prst="rect">
            <a:avLst/>
          </a:prstGeom>
          <a:noFill/>
          <a:ln/>
        </p:spPr>
        <p:txBody>
          <a:bodyPr wrap="square" rtlCol="0"/>
          <a:lstStyle>
            <a:lvl1pPr algn="l" indent="0" marL="0">
              <a:lnSpc>
                <a:spcPct val="135000"/>
              </a:lnSpc>
              <a:buNone/>
              <a:defRPr lang="en-US" sz="1600" dirty="0">
                <a:solidFill>
                  <a:srgbClr val="5F5A68"/>
                </a:solidFill>
                <a:latin typeface="Arial" pitchFamily="34" charset="0"/>
                <a:ea typeface="Arial" pitchFamily="34" charset="-122"/>
                <a:cs typeface="Arial" pitchFamily="34" charset="-120"/>
              </a:defRPr>
            </a:lvl1pPr>
          </a:lstStyle>
          <a:p>
            <a:pPr algn="l" indent="0" marL="0">
              <a:lnSpc>
                <a:spcPct val="135000"/>
              </a:lnSpc>
              <a:buNone/>
            </a:pPr>
            <a:endParaRPr lang="en-US" sz="1600" dirty="0"/>
          </a:p>
        </p:txBody>
      </p:sp>
      <p:sp>
        <p:nvSpPr>
          <p:cNvPr id="5" name="Text 0"/>
          <p:cNvSpPr/>
          <p:nvPr>
            <p:ph idx="103" hasCustomPrompt="1"/>
          </p:nvPr>
        </p:nvSpPr>
        <p:spPr>
          <a:xfrm>
            <a:off x="6096000" y="0"/>
            <a:ext cx="6096000" cy="68580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eufin · Image and tex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099300" y="6311900"/>
            <a:ext cx="1714500" cy="203200"/>
          </a:xfrm>
          <a:prstGeom prst="rect">
            <a:avLst/>
          </a:prstGeom>
        </p:spPr>
      </p:pic>
      <p:sp>
        <p:nvSpPr>
          <p:cNvPr id="3" name="Text 0"/>
          <p:cNvSpPr/>
          <p:nvPr>
            <p:ph idx="101" type="title" hasCustomPrompt="1"/>
          </p:nvPr>
        </p:nvSpPr>
        <p:spPr>
          <a:xfrm>
            <a:off x="7099300" y="558800"/>
            <a:ext cx="4483100" cy="1727200"/>
          </a:xfrm>
          <a:prstGeom prst="rect">
            <a:avLst/>
          </a:prstGeom>
          <a:noFill/>
          <a:ln/>
        </p:spPr>
        <p:txBody>
          <a:bodyPr wrap="square" rtlCol="0"/>
          <a:lstStyle>
            <a:lvl1pPr algn="l" indent="0" marL="0">
              <a:lnSpc>
                <a:spcPct val="115000"/>
              </a:lnSpc>
              <a:buNone/>
              <a:defRPr lang="en-US" sz="2800" b="1" dirty="0">
                <a:solidFill>
                  <a:srgbClr val="19161F"/>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4" name="Text 0"/>
          <p:cNvSpPr/>
          <p:nvPr>
            <p:ph idx="102" type="body" hasCustomPrompt="1"/>
          </p:nvPr>
        </p:nvSpPr>
        <p:spPr>
          <a:xfrm>
            <a:off x="7099300" y="2540000"/>
            <a:ext cx="4483100" cy="2540000"/>
          </a:xfrm>
          <a:prstGeom prst="rect">
            <a:avLst/>
          </a:prstGeom>
          <a:noFill/>
          <a:ln/>
        </p:spPr>
        <p:txBody>
          <a:bodyPr wrap="square" rtlCol="0"/>
          <a:lstStyle>
            <a:lvl1pPr algn="l" indent="0" marL="0">
              <a:lnSpc>
                <a:spcPct val="135000"/>
              </a:lnSpc>
              <a:buNone/>
              <a:defRPr lang="en-US" sz="1600" dirty="0">
                <a:solidFill>
                  <a:srgbClr val="5F5A68"/>
                </a:solidFill>
                <a:latin typeface="Arial" pitchFamily="34" charset="0"/>
                <a:ea typeface="Arial" pitchFamily="34" charset="-122"/>
                <a:cs typeface="Arial" pitchFamily="34" charset="-120"/>
              </a:defRPr>
            </a:lvl1pPr>
          </a:lstStyle>
          <a:p>
            <a:pPr algn="l" indent="0" marL="0">
              <a:lnSpc>
                <a:spcPct val="135000"/>
              </a:lnSpc>
              <a:buNone/>
            </a:pPr>
            <a:endParaRPr lang="en-US" sz="1600" dirty="0"/>
          </a:p>
        </p:txBody>
      </p:sp>
      <p:sp>
        <p:nvSpPr>
          <p:cNvPr id="5" name="Text 0"/>
          <p:cNvSpPr/>
          <p:nvPr>
            <p:ph idx="103" hasCustomPrompt="1"/>
          </p:nvPr>
        </p:nvSpPr>
        <p:spPr>
          <a:xfrm>
            <a:off x="0" y="0"/>
            <a:ext cx="6096000" cy="68580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Neufin · Violet">
    <p:bg>
      <p:bgPr>
        <a:solidFill>
          <a:srgbClr val="7E22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6311900"/>
            <a:ext cx="1714500" cy="203200"/>
          </a:xfrm>
          <a:prstGeom prst="rect">
            <a:avLst/>
          </a:prstGeom>
        </p:spPr>
      </p:pic>
      <p:sp>
        <p:nvSpPr>
          <p:cNvPr id="3" name="Text 0"/>
          <p:cNvSpPr/>
          <p:nvPr>
            <p:ph idx="101" type="title" hasCustomPrompt="1"/>
          </p:nvPr>
        </p:nvSpPr>
        <p:spPr>
          <a:xfrm>
            <a:off x="609600" y="558800"/>
            <a:ext cx="10972800" cy="863600"/>
          </a:xfrm>
          <a:prstGeom prst="rect">
            <a:avLst/>
          </a:prstGeom>
          <a:noFill/>
          <a:ln/>
        </p:spPr>
        <p:txBody>
          <a:bodyPr wrap="square" rtlCol="0"/>
          <a:lstStyle>
            <a:lvl1pPr algn="l" indent="0" marL="0">
              <a:lnSpc>
                <a:spcPct val="115000"/>
              </a:lnSpc>
              <a:buNone/>
              <a:defRPr lang="en-US" sz="2800" b="1" dirty="0">
                <a:solidFill>
                  <a:srgbClr val="FFFFFF"/>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eufin · Full photo">
    <p:bg>
      <p:bgPr>
        <a:solidFill>
          <a:srgbClr val="1916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00" y="4064000"/>
            <a:ext cx="8191500" cy="1397000"/>
          </a:xfrm>
          <a:prstGeom prst="rect">
            <a:avLst/>
          </a:prstGeom>
          <a:noFill/>
          <a:ln/>
        </p:spPr>
        <p:txBody>
          <a:bodyPr wrap="square" rtlCol="0"/>
          <a:lstStyle>
            <a:lvl1pPr algn="l" indent="0" marL="0">
              <a:lnSpc>
                <a:spcPct val="105000"/>
              </a:lnSpc>
              <a:buNone/>
              <a:defRPr lang="en-US" sz="4800" b="1" dirty="0">
                <a:solidFill>
                  <a:srgbClr val="FFFFFF"/>
                </a:solidFill>
                <a:latin typeface="Arial" pitchFamily="34" charset="0"/>
                <a:ea typeface="Arial" pitchFamily="34" charset="-122"/>
                <a:cs typeface="Arial" pitchFamily="34" charset="-120"/>
              </a:defRPr>
            </a:lvl1pPr>
          </a:lstStyle>
          <a:p>
            <a:pPr algn="l" indent="0" marL="0">
              <a:lnSpc>
                <a:spcPct val="105000"/>
              </a:lnSpc>
              <a:buNone/>
            </a:pPr>
            <a:endParaRPr lang="en-US" sz="4800" dirty="0"/>
          </a:p>
        </p:txBody>
      </p:sp>
      <p:sp>
        <p:nvSpPr>
          <p:cNvPr id="3" name="Text 0"/>
          <p:cNvSpPr/>
          <p:nvPr>
            <p:ph idx="101" type="body" hasCustomPrompt="1"/>
          </p:nvPr>
        </p:nvSpPr>
        <p:spPr>
          <a:xfrm>
            <a:off x="609600" y="5588000"/>
            <a:ext cx="7264400" cy="609600"/>
          </a:xfrm>
          <a:prstGeom prst="rect">
            <a:avLst/>
          </a:prstGeom>
          <a:noFill/>
          <a:ln/>
        </p:spPr>
        <p:txBody>
          <a:bodyPr wrap="square" rtlCol="0"/>
          <a:lstStyle>
            <a:lvl1pPr algn="l" indent="0" marL="0">
              <a:lnSpc>
                <a:spcPct val="135000"/>
              </a:lnSpc>
              <a:buNone/>
              <a:defRPr lang="en-US" sz="1600" dirty="0">
                <a:solidFill>
                  <a:srgbClr val="FFFFFF"/>
                </a:solidFill>
                <a:latin typeface="Arial" pitchFamily="34" charset="0"/>
                <a:ea typeface="Arial" pitchFamily="34" charset="-122"/>
                <a:cs typeface="Arial" pitchFamily="34" charset="-120"/>
              </a:defRPr>
            </a:lvl1pPr>
          </a:lstStyle>
          <a:p>
            <a:pPr algn="l" indent="0" marL="0">
              <a:lnSpc>
                <a:spcPct val="135000"/>
              </a:lnSpc>
              <a:buNone/>
            </a:pPr>
            <a:endParaRPr lang="en-US" sz="1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eufin · Cover with photo">
    <p:bg>
      <p:bgPr>
        <a:solidFill>
          <a:srgbClr val="7E22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00" y="3911600"/>
            <a:ext cx="6337300" cy="1397000"/>
          </a:xfrm>
          <a:prstGeom prst="rect">
            <a:avLst/>
          </a:prstGeom>
          <a:noFill/>
          <a:ln/>
        </p:spPr>
        <p:txBody>
          <a:bodyPr wrap="square" rtlCol="0"/>
          <a:lstStyle>
            <a:lvl1pPr algn="l" indent="0" marL="0">
              <a:lnSpc>
                <a:spcPct val="105000"/>
              </a:lnSpc>
              <a:buNone/>
              <a:defRPr lang="en-US" sz="4800" b="1" dirty="0">
                <a:solidFill>
                  <a:srgbClr val="FFFFFF"/>
                </a:solidFill>
                <a:latin typeface="Arial" pitchFamily="34" charset="0"/>
                <a:ea typeface="Arial" pitchFamily="34" charset="-122"/>
                <a:cs typeface="Arial" pitchFamily="34" charset="-120"/>
              </a:defRPr>
            </a:lvl1pPr>
          </a:lstStyle>
          <a:p>
            <a:pPr algn="l" indent="0" marL="0">
              <a:lnSpc>
                <a:spcPct val="105000"/>
              </a:lnSpc>
              <a:buNone/>
            </a:pPr>
            <a:endParaRPr lang="en-US" sz="4800" dirty="0"/>
          </a:p>
        </p:txBody>
      </p:sp>
      <p:sp>
        <p:nvSpPr>
          <p:cNvPr id="3" name="Text 0"/>
          <p:cNvSpPr/>
          <p:nvPr>
            <p:ph idx="101" type="body" hasCustomPrompt="1"/>
          </p:nvPr>
        </p:nvSpPr>
        <p:spPr>
          <a:xfrm>
            <a:off x="609600" y="5410200"/>
            <a:ext cx="6337300" cy="304800"/>
          </a:xfrm>
          <a:prstGeom prst="rect">
            <a:avLst/>
          </a:prstGeom>
          <a:noFill/>
          <a:ln/>
        </p:spPr>
        <p:txBody>
          <a:bodyPr wrap="square" rtlCol="0"/>
          <a:lstStyle>
            <a:lvl1pPr algn="l" indent="0" marL="0">
              <a:lnSpc>
                <a:spcPct val="135000"/>
              </a:lnSpc>
              <a:buNone/>
              <a:defRPr lang="en-US" sz="1600" dirty="0">
                <a:solidFill>
                  <a:srgbClr val="FFFFFF"/>
                </a:solidFill>
                <a:latin typeface="Arial" pitchFamily="34" charset="0"/>
                <a:ea typeface="Arial" pitchFamily="34" charset="-122"/>
                <a:cs typeface="Arial" pitchFamily="34" charset="-120"/>
              </a:defRPr>
            </a:lvl1pPr>
          </a:lstStyle>
          <a:p>
            <a:pPr algn="l" indent="0" marL="0">
              <a:lnSpc>
                <a:spcPct val="135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9.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8.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7.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600" y="1828800"/>
            <a:ext cx="10972800" cy="12700"/>
          </a:xfrm>
          <a:prstGeom prst="rect">
            <a:avLst/>
          </a:prstGeom>
          <a:solidFill>
            <a:srgbClr val="E6E2EC"/>
          </a:solidFill>
          <a:ln/>
        </p:spPr>
      </p:sp>
      <p:sp>
        <p:nvSpPr>
          <p:cNvPr id="3" name="Text 1"/>
          <p:cNvSpPr txBox="1"/>
          <p:nvPr/>
        </p:nvSpPr>
        <p:spPr>
          <a:xfrm>
            <a:off x="609600" y="20066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01</a:t>
            </a:r>
            <a:endParaRPr lang="en-US" sz="1600" dirty="0"/>
          </a:p>
        </p:txBody>
      </p:sp>
      <p:sp>
        <p:nvSpPr>
          <p:cNvPr id="4" name="Text 2"/>
          <p:cNvSpPr txBox="1"/>
          <p:nvPr/>
        </p:nvSpPr>
        <p:spPr>
          <a:xfrm>
            <a:off x="1536700" y="2006600"/>
            <a:ext cx="44831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Write each title as the point the slide makes.</a:t>
            </a:r>
            <a:endParaRPr lang="en-US" sz="1600" dirty="0"/>
          </a:p>
        </p:txBody>
      </p:sp>
      <p:sp>
        <p:nvSpPr>
          <p:cNvPr id="5" name="Text 3"/>
          <p:cNvSpPr txBox="1"/>
          <p:nvPr/>
        </p:nvSpPr>
        <p:spPr>
          <a:xfrm>
            <a:off x="6172200" y="2006600"/>
            <a:ext cx="54102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“Open access saves ₹3.3 Cr a year”, not “Savings”.</a:t>
            </a:r>
            <a:endParaRPr lang="en-US" sz="1600" dirty="0"/>
          </a:p>
        </p:txBody>
      </p:sp>
      <p:sp>
        <p:nvSpPr>
          <p:cNvPr id="6" name="Shape 4"/>
          <p:cNvSpPr/>
          <p:nvPr/>
        </p:nvSpPr>
        <p:spPr>
          <a:xfrm>
            <a:off x="609600" y="2641600"/>
            <a:ext cx="10972800" cy="12700"/>
          </a:xfrm>
          <a:prstGeom prst="rect">
            <a:avLst/>
          </a:prstGeom>
          <a:solidFill>
            <a:srgbClr val="E6E2EC"/>
          </a:solidFill>
          <a:ln/>
        </p:spPr>
      </p:sp>
      <p:sp>
        <p:nvSpPr>
          <p:cNvPr id="7" name="Text 5"/>
          <p:cNvSpPr txBox="1"/>
          <p:nvPr/>
        </p:nvSpPr>
        <p:spPr>
          <a:xfrm>
            <a:off x="609600" y="28194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02</a:t>
            </a:r>
            <a:endParaRPr lang="en-US" sz="1600" dirty="0"/>
          </a:p>
        </p:txBody>
      </p:sp>
      <p:sp>
        <p:nvSpPr>
          <p:cNvPr id="8" name="Text 6"/>
          <p:cNvSpPr txBox="1"/>
          <p:nvPr/>
        </p:nvSpPr>
        <p:spPr>
          <a:xfrm>
            <a:off x="1536700" y="2819400"/>
            <a:ext cx="44831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One idea per slide.</a:t>
            </a:r>
            <a:endParaRPr lang="en-US" sz="1600" dirty="0"/>
          </a:p>
        </p:txBody>
      </p:sp>
      <p:sp>
        <p:nvSpPr>
          <p:cNvPr id="9" name="Text 7"/>
          <p:cNvSpPr txBox="1"/>
          <p:nvPr/>
        </p:nvSpPr>
        <p:spPr>
          <a:xfrm>
            <a:off x="6172200" y="2819400"/>
            <a:ext cx="54102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If a slide needs two titles, make it two slides.</a:t>
            </a:r>
            <a:endParaRPr lang="en-US" sz="1600" dirty="0"/>
          </a:p>
        </p:txBody>
      </p:sp>
      <p:sp>
        <p:nvSpPr>
          <p:cNvPr id="10" name="Shape 8"/>
          <p:cNvSpPr/>
          <p:nvPr/>
        </p:nvSpPr>
        <p:spPr>
          <a:xfrm>
            <a:off x="609600" y="3454400"/>
            <a:ext cx="10972800" cy="12700"/>
          </a:xfrm>
          <a:prstGeom prst="rect">
            <a:avLst/>
          </a:prstGeom>
          <a:solidFill>
            <a:srgbClr val="E6E2EC"/>
          </a:solidFill>
          <a:ln/>
        </p:spPr>
      </p:sp>
      <p:sp>
        <p:nvSpPr>
          <p:cNvPr id="11" name="Text 9"/>
          <p:cNvSpPr txBox="1"/>
          <p:nvPr/>
        </p:nvSpPr>
        <p:spPr>
          <a:xfrm>
            <a:off x="609600" y="36322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03</a:t>
            </a:r>
            <a:endParaRPr lang="en-US" sz="1600" dirty="0"/>
          </a:p>
        </p:txBody>
      </p:sp>
      <p:sp>
        <p:nvSpPr>
          <p:cNvPr id="12" name="Text 10"/>
          <p:cNvSpPr txBox="1"/>
          <p:nvPr/>
        </p:nvSpPr>
        <p:spPr>
          <a:xfrm>
            <a:off x="1536700" y="3632200"/>
            <a:ext cx="44831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Keep to the sizes in the layouts.</a:t>
            </a:r>
            <a:endParaRPr lang="en-US" sz="1600" dirty="0"/>
          </a:p>
        </p:txBody>
      </p:sp>
      <p:sp>
        <p:nvSpPr>
          <p:cNvPr id="13" name="Text 11"/>
          <p:cNvSpPr txBox="1"/>
          <p:nvPr/>
        </p:nvSpPr>
        <p:spPr>
          <a:xfrm>
            <a:off x="6172200" y="3632200"/>
            <a:ext cx="54102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If text doesn’t fit, cut words. Don’t make it smaller.</a:t>
            </a:r>
            <a:endParaRPr lang="en-US" sz="1600" dirty="0"/>
          </a:p>
        </p:txBody>
      </p:sp>
      <p:sp>
        <p:nvSpPr>
          <p:cNvPr id="14" name="Shape 12"/>
          <p:cNvSpPr/>
          <p:nvPr/>
        </p:nvSpPr>
        <p:spPr>
          <a:xfrm>
            <a:off x="609600" y="4267200"/>
            <a:ext cx="10972800" cy="12700"/>
          </a:xfrm>
          <a:prstGeom prst="rect">
            <a:avLst/>
          </a:prstGeom>
          <a:solidFill>
            <a:srgbClr val="E6E2EC"/>
          </a:solidFill>
          <a:ln/>
        </p:spPr>
      </p:sp>
      <p:sp>
        <p:nvSpPr>
          <p:cNvPr id="15" name="Text 13"/>
          <p:cNvSpPr txBox="1"/>
          <p:nvPr/>
        </p:nvSpPr>
        <p:spPr>
          <a:xfrm>
            <a:off x="609600" y="44450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04</a:t>
            </a:r>
            <a:endParaRPr lang="en-US" sz="1600" dirty="0"/>
          </a:p>
        </p:txBody>
      </p:sp>
      <p:sp>
        <p:nvSpPr>
          <p:cNvPr id="16" name="Text 14"/>
          <p:cNvSpPr txBox="1"/>
          <p:nvPr/>
        </p:nvSpPr>
        <p:spPr>
          <a:xfrm>
            <a:off x="1536700" y="4445000"/>
            <a:ext cx="44831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Violet is for Neufin.</a:t>
            </a:r>
            <a:endParaRPr lang="en-US" sz="1600" dirty="0"/>
          </a:p>
        </p:txBody>
      </p:sp>
      <p:sp>
        <p:nvSpPr>
          <p:cNvPr id="17" name="Text 15"/>
          <p:cNvSpPr txBox="1"/>
          <p:nvPr/>
        </p:nvSpPr>
        <p:spPr>
          <a:xfrm>
            <a:off x="6172200" y="4445000"/>
            <a:ext cx="54102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Our figures, our option, the recommendation. Everything else is black or grey.</a:t>
            </a:r>
            <a:endParaRPr lang="en-US" sz="1600" dirty="0"/>
          </a:p>
        </p:txBody>
      </p:sp>
      <p:sp>
        <p:nvSpPr>
          <p:cNvPr id="18" name="Shape 16"/>
          <p:cNvSpPr/>
          <p:nvPr/>
        </p:nvSpPr>
        <p:spPr>
          <a:xfrm>
            <a:off x="609600" y="5080000"/>
            <a:ext cx="10972800" cy="12700"/>
          </a:xfrm>
          <a:prstGeom prst="rect">
            <a:avLst/>
          </a:prstGeom>
          <a:solidFill>
            <a:srgbClr val="E6E2EC"/>
          </a:solidFill>
          <a:ln/>
        </p:spPr>
      </p:sp>
      <p:sp>
        <p:nvSpPr>
          <p:cNvPr id="19" name="Text 17"/>
          <p:cNvSpPr txBox="1"/>
          <p:nvPr/>
        </p:nvSpPr>
        <p:spPr>
          <a:xfrm>
            <a:off x="609600" y="52578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05</a:t>
            </a:r>
            <a:endParaRPr lang="en-US" sz="1600" dirty="0"/>
          </a:p>
        </p:txBody>
      </p:sp>
      <p:sp>
        <p:nvSpPr>
          <p:cNvPr id="20" name="Text 18"/>
          <p:cNvSpPr txBox="1"/>
          <p:nvPr/>
        </p:nvSpPr>
        <p:spPr>
          <a:xfrm>
            <a:off x="1536700" y="5257800"/>
            <a:ext cx="44831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Read the speaker notes.</a:t>
            </a:r>
            <a:endParaRPr lang="en-US" sz="1600" dirty="0"/>
          </a:p>
        </p:txBody>
      </p:sp>
      <p:sp>
        <p:nvSpPr>
          <p:cNvPr id="21" name="Text 19"/>
          <p:cNvSpPr txBox="1"/>
          <p:nvPr/>
        </p:nvSpPr>
        <p:spPr>
          <a:xfrm>
            <a:off x="6172200" y="5257800"/>
            <a:ext cx="54102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Every slide explains when to use it and what to change. Delete this slide before sending.</a:t>
            </a:r>
            <a:endParaRPr lang="en-US" sz="1600" dirty="0"/>
          </a:p>
        </p:txBody>
      </p:sp>
      <p:sp>
        <p:nvSpPr>
          <p:cNvPr id="22"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How to use this template</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hoto">    </p:cNvPr>
          <p:cNvPicPr>
            <a:picLocks noChangeAspect="1"/>
          </p:cNvPicPr>
          <p:nvPr/>
        </p:nvPicPr>
        <p:blipFill>
          <a:blip r:embed="rId1"/>
          <a:stretch>
            <a:fillRect/>
          </a:stretch>
        </p:blipFill>
        <p:spPr>
          <a:xfrm>
            <a:off x="0" y="0"/>
            <a:ext cx="12192000" cy="4953000"/>
          </a:xfrm>
          <a:prstGeom prst="rect">
            <a:avLst/>
          </a:prstGeom>
        </p:spPr>
      </p:pic>
      <p:pic>
        <p:nvPicPr>
          <p:cNvPr id="3" name="Image 1" descr="Neufin Stripe">    </p:cNvPr>
          <p:cNvPicPr>
            <a:picLocks noChangeAspect="1"/>
          </p:cNvPicPr>
          <p:nvPr/>
        </p:nvPicPr>
        <p:blipFill>
          <a:blip r:embed="rId2"/>
          <a:stretch>
            <a:fillRect/>
          </a:stretch>
        </p:blipFill>
        <p:spPr>
          <a:xfrm>
            <a:off x="0" y="0"/>
            <a:ext cx="12192000" cy="6858000"/>
          </a:xfrm>
          <a:prstGeom prst="rect">
            <a:avLst/>
          </a:prstGeom>
        </p:spPr>
      </p:pic>
      <p:pic>
        <p:nvPicPr>
          <p:cNvPr id="4" name="Image 2" descr="Neufin Stripe">    </p:cNvPr>
          <p:cNvPicPr>
            <a:picLocks noChangeAspect="1"/>
          </p:cNvPicPr>
          <p:nvPr/>
        </p:nvPicPr>
        <p:blipFill>
          <a:blip r:embed="rId3"/>
          <a:stretch>
            <a:fillRect/>
          </a:stretch>
        </p:blipFill>
        <p:spPr>
          <a:xfrm>
            <a:off x="0" y="0"/>
            <a:ext cx="12192000" cy="6858000"/>
          </a:xfrm>
          <a:prstGeom prst="rect">
            <a:avLst/>
          </a:prstGeom>
        </p:spPr>
      </p:pic>
      <p:pic>
        <p:nvPicPr>
          <p:cNvPr id="5" name="Image 3" descr="Neufin Energy">    </p:cNvPr>
          <p:cNvPicPr>
            <a:picLocks noChangeAspect="1"/>
          </p:cNvPicPr>
          <p:nvPr/>
        </p:nvPicPr>
        <p:blipFill>
          <a:blip r:embed="rId4"/>
          <a:stretch>
            <a:fillRect/>
          </a:stretch>
        </p:blipFill>
        <p:spPr>
          <a:xfrm>
            <a:off x="609600" y="6146800"/>
            <a:ext cx="2571750" cy="304800"/>
          </a:xfrm>
          <a:prstGeom prst="rect">
            <a:avLst/>
          </a:prstGeom>
        </p:spPr>
      </p:pic>
      <p:sp>
        <p:nvSpPr>
          <p:cNvPr id="6" name="Shape 0"/>
          <p:cNvSpPr/>
          <p:nvPr/>
        </p:nvSpPr>
        <p:spPr>
          <a:xfrm>
            <a:off x="9804400" y="5994400"/>
            <a:ext cx="1778000" cy="609600"/>
          </a:xfrm>
          <a:prstGeom prst="rect">
            <a:avLst/>
          </a:prstGeom>
          <a:solidFill>
            <a:srgbClr val="FFFFFF"/>
          </a:solidFill>
          <a:ln/>
        </p:spPr>
      </p:sp>
      <p:sp>
        <p:nvSpPr>
          <p:cNvPr id="7" name="Text 1"/>
          <p:cNvSpPr txBox="1"/>
          <p:nvPr/>
        </p:nvSpPr>
        <p:spPr>
          <a:xfrm>
            <a:off x="9804400" y="5994400"/>
            <a:ext cx="1778000" cy="609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Client logo</a:t>
            </a:r>
            <a:endParaRPr lang="en-US" sz="1200" dirty="0"/>
          </a:p>
        </p:txBody>
      </p:sp>
      <p:sp>
        <p:nvSpPr>
          <p:cNvPr id="8" name="Text 0"/>
          <p:cNvSpPr/>
          <p:nvPr>
            <p:ph idx="100" type="title" hasCustomPrompt="1"/>
          </p:nvPr>
        </p:nvSpPr>
        <p:spPr>
          <a:xfrm>
            <a:off x="609600" y="3911600"/>
            <a:ext cx="63373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Lower power costs</a:t>
            </a:r>
            <a:endParaRPr lang="en-US" sz="4800" dirty="0"/>
          </a:p>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for your offices</a:t>
            </a:r>
            <a:endParaRPr lang="en-US" sz="4800" dirty="0"/>
          </a:p>
        </p:txBody>
      </p:sp>
      <p:sp>
        <p:nvSpPr>
          <p:cNvPr id="9" name="Text 0"/>
          <p:cNvSpPr/>
          <p:nvPr>
            <p:ph idx="101" type="body" hasCustomPrompt="1"/>
          </p:nvPr>
        </p:nvSpPr>
        <p:spPr>
          <a:xfrm>
            <a:off x="609600" y="5410200"/>
            <a:ext cx="6337300" cy="304800"/>
          </a:xfrm>
          <a:prstGeom prst="rect">
            <a:avLst/>
          </a:prstGeom>
          <a:noFill/>
          <a:ln/>
        </p:spPr>
        <p:txBody>
          <a:bodyPr wrap="square" lIns="0" tIns="0" rIns="0" bIns="0" rtlCol="0" anchor="t"/>
          <a:lstStyle/>
          <a:p>
            <a:pPr algn="l" indent="0" marL="0">
              <a:lnSpc>
                <a:spcPct val="135000"/>
              </a:lnSpc>
              <a:buNone/>
            </a:pPr>
            <a:r>
              <a:rPr lang="en-US" sz="1600" dirty="0">
                <a:solidFill>
                  <a:srgbClr val="FFFFFF"/>
                </a:solidFill>
                <a:latin typeface="Arial" pitchFamily="34" charset="0"/>
                <a:ea typeface="Arial" pitchFamily="34" charset="-122"/>
                <a:cs typeface="Arial" pitchFamily="34" charset="-120"/>
              </a:rPr>
              <a:t>Proposal for Company name · October 2026</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9804400" y="406400"/>
            <a:ext cx="1778000" cy="609600"/>
          </a:xfrm>
          <a:prstGeom prst="rect">
            <a:avLst/>
          </a:prstGeom>
          <a:solidFill>
            <a:srgbClr val="FFFFFF"/>
          </a:solidFill>
          <a:ln/>
        </p:spPr>
      </p:sp>
      <p:sp>
        <p:nvSpPr>
          <p:cNvPr id="3" name="Text 1"/>
          <p:cNvSpPr txBox="1"/>
          <p:nvPr/>
        </p:nvSpPr>
        <p:spPr>
          <a:xfrm>
            <a:off x="9804400" y="406400"/>
            <a:ext cx="1778000" cy="609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Client logo</a:t>
            </a:r>
            <a:endParaRPr lang="en-US" sz="1200" dirty="0"/>
          </a:p>
        </p:txBody>
      </p:sp>
      <p:sp>
        <p:nvSpPr>
          <p:cNvPr id="4" name="Text 0"/>
          <p:cNvSpPr/>
          <p:nvPr>
            <p:ph idx="102" type="title" hasCustomPrompt="1"/>
          </p:nvPr>
        </p:nvSpPr>
        <p:spPr>
          <a:xfrm>
            <a:off x="609600" y="1625600"/>
            <a:ext cx="81915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Lower power costs</a:t>
            </a:r>
            <a:endParaRPr lang="en-US" sz="4800" dirty="0"/>
          </a:p>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for your offices</a:t>
            </a:r>
            <a:endParaRPr lang="en-US" sz="4800" dirty="0"/>
          </a:p>
        </p:txBody>
      </p:sp>
      <p:sp>
        <p:nvSpPr>
          <p:cNvPr id="5" name="Text 0"/>
          <p:cNvSpPr/>
          <p:nvPr>
            <p:ph idx="103" type="body" hasCustomPrompt="1"/>
          </p:nvPr>
        </p:nvSpPr>
        <p:spPr>
          <a:xfrm>
            <a:off x="609600" y="3302000"/>
            <a:ext cx="8191500" cy="609600"/>
          </a:xfrm>
          <a:prstGeom prst="rect">
            <a:avLst/>
          </a:prstGeom>
          <a:noFill/>
          <a:ln/>
        </p:spPr>
        <p:txBody>
          <a:bodyPr wrap="square" lIns="0" tIns="0" rIns="0" bIns="0" rtlCol="0" anchor="t"/>
          <a:lstStyle/>
          <a:p>
            <a:pPr algn="l" indent="0" marL="0">
              <a:lnSpc>
                <a:spcPct val="135000"/>
              </a:lnSpc>
              <a:buNone/>
            </a:pPr>
            <a:r>
              <a:rPr lang="en-US" sz="1600" dirty="0">
                <a:solidFill>
                  <a:srgbClr val="FFFFFF"/>
                </a:solidFill>
                <a:latin typeface="Arial" pitchFamily="34" charset="0"/>
                <a:ea typeface="Arial" pitchFamily="34" charset="-122"/>
                <a:cs typeface="Arial" pitchFamily="34" charset="-120"/>
              </a:rPr>
              <a:t>Proposal for Company name · October 2026</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318000" y="1828800"/>
            <a:ext cx="7264400" cy="12700"/>
          </a:xfrm>
          <a:prstGeom prst="rect">
            <a:avLst/>
          </a:prstGeom>
          <a:solidFill>
            <a:srgbClr val="E6E2EC"/>
          </a:solidFill>
          <a:ln/>
        </p:spPr>
      </p:sp>
      <p:sp>
        <p:nvSpPr>
          <p:cNvPr id="3" name="Text 1"/>
          <p:cNvSpPr txBox="1"/>
          <p:nvPr/>
        </p:nvSpPr>
        <p:spPr>
          <a:xfrm>
            <a:off x="4318000" y="20320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01</a:t>
            </a:r>
            <a:endParaRPr lang="en-US" sz="1600" dirty="0"/>
          </a:p>
        </p:txBody>
      </p:sp>
      <p:sp>
        <p:nvSpPr>
          <p:cNvPr id="4" name="Text 2"/>
          <p:cNvSpPr txBox="1"/>
          <p:nvPr/>
        </p:nvSpPr>
        <p:spPr>
          <a:xfrm>
            <a:off x="5245100" y="2032000"/>
            <a:ext cx="63373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What you pay today</a:t>
            </a:r>
            <a:endParaRPr lang="en-US" sz="1600" dirty="0"/>
          </a:p>
        </p:txBody>
      </p:sp>
      <p:sp>
        <p:nvSpPr>
          <p:cNvPr id="5" name="Shape 3"/>
          <p:cNvSpPr/>
          <p:nvPr/>
        </p:nvSpPr>
        <p:spPr>
          <a:xfrm>
            <a:off x="4318000" y="2590800"/>
            <a:ext cx="7264400" cy="12700"/>
          </a:xfrm>
          <a:prstGeom prst="rect">
            <a:avLst/>
          </a:prstGeom>
          <a:solidFill>
            <a:srgbClr val="E6E2EC"/>
          </a:solidFill>
          <a:ln/>
        </p:spPr>
      </p:sp>
      <p:sp>
        <p:nvSpPr>
          <p:cNvPr id="6" name="Text 4"/>
          <p:cNvSpPr txBox="1"/>
          <p:nvPr/>
        </p:nvSpPr>
        <p:spPr>
          <a:xfrm>
            <a:off x="4318000" y="27940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02</a:t>
            </a:r>
            <a:endParaRPr lang="en-US" sz="1600" dirty="0"/>
          </a:p>
        </p:txBody>
      </p:sp>
      <p:sp>
        <p:nvSpPr>
          <p:cNvPr id="7" name="Text 5"/>
          <p:cNvSpPr txBox="1"/>
          <p:nvPr/>
        </p:nvSpPr>
        <p:spPr>
          <a:xfrm>
            <a:off x="5245100" y="2794000"/>
            <a:ext cx="63373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Where you can save</a:t>
            </a:r>
            <a:endParaRPr lang="en-US" sz="1600" dirty="0"/>
          </a:p>
        </p:txBody>
      </p:sp>
      <p:sp>
        <p:nvSpPr>
          <p:cNvPr id="8" name="Shape 6"/>
          <p:cNvSpPr/>
          <p:nvPr/>
        </p:nvSpPr>
        <p:spPr>
          <a:xfrm>
            <a:off x="4318000" y="3352800"/>
            <a:ext cx="7264400" cy="12700"/>
          </a:xfrm>
          <a:prstGeom prst="rect">
            <a:avLst/>
          </a:prstGeom>
          <a:solidFill>
            <a:srgbClr val="E6E2EC"/>
          </a:solidFill>
          <a:ln/>
        </p:spPr>
      </p:sp>
      <p:sp>
        <p:nvSpPr>
          <p:cNvPr id="9" name="Text 7"/>
          <p:cNvSpPr txBox="1"/>
          <p:nvPr/>
        </p:nvSpPr>
        <p:spPr>
          <a:xfrm>
            <a:off x="4318000" y="35560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03</a:t>
            </a:r>
            <a:endParaRPr lang="en-US" sz="1600" dirty="0"/>
          </a:p>
        </p:txBody>
      </p:sp>
      <p:sp>
        <p:nvSpPr>
          <p:cNvPr id="10" name="Text 8"/>
          <p:cNvSpPr txBox="1"/>
          <p:nvPr/>
        </p:nvSpPr>
        <p:spPr>
          <a:xfrm>
            <a:off x="5245100" y="3556000"/>
            <a:ext cx="63373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Your options</a:t>
            </a:r>
            <a:endParaRPr lang="en-US" sz="1600" dirty="0"/>
          </a:p>
        </p:txBody>
      </p:sp>
      <p:sp>
        <p:nvSpPr>
          <p:cNvPr id="11" name="Shape 9"/>
          <p:cNvSpPr/>
          <p:nvPr/>
        </p:nvSpPr>
        <p:spPr>
          <a:xfrm>
            <a:off x="4318000" y="4114800"/>
            <a:ext cx="7264400" cy="12700"/>
          </a:xfrm>
          <a:prstGeom prst="rect">
            <a:avLst/>
          </a:prstGeom>
          <a:solidFill>
            <a:srgbClr val="E6E2EC"/>
          </a:solidFill>
          <a:ln/>
        </p:spPr>
      </p:sp>
      <p:sp>
        <p:nvSpPr>
          <p:cNvPr id="12" name="Text 10"/>
          <p:cNvSpPr txBox="1"/>
          <p:nvPr/>
        </p:nvSpPr>
        <p:spPr>
          <a:xfrm>
            <a:off x="4318000" y="43180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04</a:t>
            </a:r>
            <a:endParaRPr lang="en-US" sz="1600" dirty="0"/>
          </a:p>
        </p:txBody>
      </p:sp>
      <p:sp>
        <p:nvSpPr>
          <p:cNvPr id="13" name="Text 11"/>
          <p:cNvSpPr txBox="1"/>
          <p:nvPr/>
        </p:nvSpPr>
        <p:spPr>
          <a:xfrm>
            <a:off x="5245100" y="4318000"/>
            <a:ext cx="63373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How we deliver</a:t>
            </a:r>
            <a:endParaRPr lang="en-US" sz="1600" dirty="0"/>
          </a:p>
        </p:txBody>
      </p:sp>
      <p:sp>
        <p:nvSpPr>
          <p:cNvPr id="14" name="Shape 12"/>
          <p:cNvSpPr/>
          <p:nvPr/>
        </p:nvSpPr>
        <p:spPr>
          <a:xfrm>
            <a:off x="4318000" y="4876800"/>
            <a:ext cx="7264400" cy="12700"/>
          </a:xfrm>
          <a:prstGeom prst="rect">
            <a:avLst/>
          </a:prstGeom>
          <a:solidFill>
            <a:srgbClr val="E6E2EC"/>
          </a:solidFill>
          <a:ln/>
        </p:spPr>
      </p:sp>
      <p:sp>
        <p:nvSpPr>
          <p:cNvPr id="15" name="Text 13"/>
          <p:cNvSpPr txBox="1"/>
          <p:nvPr/>
        </p:nvSpPr>
        <p:spPr>
          <a:xfrm>
            <a:off x="4318000" y="5080000"/>
            <a:ext cx="7747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05</a:t>
            </a:r>
            <a:endParaRPr lang="en-US" sz="1600" dirty="0"/>
          </a:p>
        </p:txBody>
      </p:sp>
      <p:sp>
        <p:nvSpPr>
          <p:cNvPr id="16" name="Text 14"/>
          <p:cNvSpPr txBox="1"/>
          <p:nvPr/>
        </p:nvSpPr>
        <p:spPr>
          <a:xfrm>
            <a:off x="5245100" y="5080000"/>
            <a:ext cx="63373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Next steps</a:t>
            </a:r>
            <a:endParaRPr lang="en-US" sz="1600" dirty="0"/>
          </a:p>
        </p:txBody>
      </p:sp>
      <p:sp>
        <p:nvSpPr>
          <p:cNvPr id="17"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Agenda</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3" type="title" hasCustomPrompt="1"/>
          </p:nvPr>
        </p:nvSpPr>
        <p:spPr>
          <a:xfrm>
            <a:off x="609600" y="2387600"/>
            <a:ext cx="91186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Where you can save</a:t>
            </a:r>
            <a:endParaRPr lang="en-US" sz="4800" dirty="0"/>
          </a:p>
        </p:txBody>
      </p:sp>
      <p:sp>
        <p:nvSpPr>
          <p:cNvPr id="3" name="Text 0"/>
          <p:cNvSpPr/>
          <p:nvPr>
            <p:ph idx="102" type="body" hasCustomPrompt="1"/>
          </p:nvPr>
        </p:nvSpPr>
        <p:spPr>
          <a:xfrm>
            <a:off x="609600" y="1981200"/>
            <a:ext cx="3556000" cy="304800"/>
          </a:xfrm>
          <a:prstGeom prst="rect">
            <a:avLst/>
          </a:prstGeom>
          <a:noFill/>
          <a:ln/>
        </p:spPr>
        <p:txBody>
          <a:bodyPr wrap="square" lIns="0" tIns="0" rIns="0" bIns="0" rtlCol="0" anchor="t"/>
          <a:lstStyle/>
          <a:p>
            <a:pPr algn="l" indent="0" marL="0">
              <a:lnSpc>
                <a:spcPct val="135000"/>
              </a:lnSpc>
              <a:buNone/>
            </a:pPr>
            <a:r>
              <a:rPr lang="en-US" sz="1600" dirty="0">
                <a:solidFill>
                  <a:srgbClr val="FFFFFF"/>
                </a:solidFill>
                <a:latin typeface="Arial" pitchFamily="34" charset="0"/>
                <a:ea typeface="Arial" pitchFamily="34" charset="-122"/>
                <a:cs typeface="Arial"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09600" y="1828800"/>
            <a:ext cx="3556000" cy="12700"/>
          </a:xfrm>
          <a:prstGeom prst="rect">
            <a:avLst/>
          </a:prstGeom>
          <a:solidFill>
            <a:srgbClr val="E6E2EC"/>
          </a:solidFill>
          <a:ln/>
        </p:spPr>
      </p:sp>
      <p:pic>
        <p:nvPicPr>
          <p:cNvPr id="3" name="Image 0" descr="bolt">    </p:cNvPr>
          <p:cNvPicPr>
            <a:picLocks noChangeAspect="1"/>
          </p:cNvPicPr>
          <p:nvPr/>
        </p:nvPicPr>
        <p:blipFill>
          <a:blip r:embed="rId1"/>
          <a:stretch>
            <a:fillRect/>
          </a:stretch>
        </p:blipFill>
        <p:spPr>
          <a:xfrm>
            <a:off x="609600" y="2082800"/>
            <a:ext cx="304800" cy="304800"/>
          </a:xfrm>
          <a:prstGeom prst="rect">
            <a:avLst/>
          </a:prstGeom>
        </p:spPr>
      </p:pic>
      <p:sp>
        <p:nvSpPr>
          <p:cNvPr id="4" name="Text 1"/>
          <p:cNvSpPr txBox="1"/>
          <p:nvPr/>
        </p:nvSpPr>
        <p:spPr>
          <a:xfrm>
            <a:off x="609600" y="2590800"/>
            <a:ext cx="3556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Up to 40% lower cost</a:t>
            </a:r>
            <a:endParaRPr lang="en-US" sz="1600" dirty="0"/>
          </a:p>
        </p:txBody>
      </p:sp>
      <p:sp>
        <p:nvSpPr>
          <p:cNvPr id="5" name="Text 2"/>
          <p:cNvSpPr txBox="1"/>
          <p:nvPr/>
        </p:nvSpPr>
        <p:spPr>
          <a:xfrm>
            <a:off x="609600" y="2921000"/>
            <a:ext cx="34036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Renewable power below the grid tariff</a:t>
            </a:r>
            <a:endParaRPr lang="en-US" sz="1600" dirty="0"/>
          </a:p>
        </p:txBody>
      </p:sp>
      <p:sp>
        <p:nvSpPr>
          <p:cNvPr id="6" name="Shape 3"/>
          <p:cNvSpPr/>
          <p:nvPr/>
        </p:nvSpPr>
        <p:spPr>
          <a:xfrm>
            <a:off x="4318000" y="1828800"/>
            <a:ext cx="3556000" cy="12700"/>
          </a:xfrm>
          <a:prstGeom prst="rect">
            <a:avLst/>
          </a:prstGeom>
          <a:solidFill>
            <a:srgbClr val="E6E2EC"/>
          </a:solidFill>
          <a:ln/>
        </p:spPr>
      </p:sp>
      <p:pic>
        <p:nvPicPr>
          <p:cNvPr id="7" name="Image 1" descr="calendar">    </p:cNvPr>
          <p:cNvPicPr>
            <a:picLocks noChangeAspect="1"/>
          </p:cNvPicPr>
          <p:nvPr/>
        </p:nvPicPr>
        <p:blipFill>
          <a:blip r:embed="rId2"/>
          <a:stretch>
            <a:fillRect/>
          </a:stretch>
        </p:blipFill>
        <p:spPr>
          <a:xfrm>
            <a:off x="4318000" y="2082800"/>
            <a:ext cx="304800" cy="304800"/>
          </a:xfrm>
          <a:prstGeom prst="rect">
            <a:avLst/>
          </a:prstGeom>
        </p:spPr>
      </p:pic>
      <p:sp>
        <p:nvSpPr>
          <p:cNvPr id="8" name="Text 4"/>
          <p:cNvSpPr txBox="1"/>
          <p:nvPr/>
        </p:nvSpPr>
        <p:spPr>
          <a:xfrm>
            <a:off x="4318000" y="2590800"/>
            <a:ext cx="3556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30 days to 15 years</a:t>
            </a:r>
            <a:endParaRPr lang="en-US" sz="1600" dirty="0"/>
          </a:p>
        </p:txBody>
      </p:sp>
      <p:sp>
        <p:nvSpPr>
          <p:cNvPr id="9" name="Text 5"/>
          <p:cNvSpPr txBox="1"/>
          <p:nvPr/>
        </p:nvSpPr>
        <p:spPr>
          <a:xfrm>
            <a:off x="4318000" y="2921000"/>
            <a:ext cx="34036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Contract lengths to suit your plans</a:t>
            </a:r>
            <a:endParaRPr lang="en-US" sz="1600" dirty="0"/>
          </a:p>
        </p:txBody>
      </p:sp>
      <p:sp>
        <p:nvSpPr>
          <p:cNvPr id="10" name="Shape 6"/>
          <p:cNvSpPr/>
          <p:nvPr/>
        </p:nvSpPr>
        <p:spPr>
          <a:xfrm>
            <a:off x="8026400" y="1828800"/>
            <a:ext cx="3556000" cy="12700"/>
          </a:xfrm>
          <a:prstGeom prst="rect">
            <a:avLst/>
          </a:prstGeom>
          <a:solidFill>
            <a:srgbClr val="E6E2EC"/>
          </a:solidFill>
          <a:ln/>
        </p:spPr>
      </p:sp>
      <p:pic>
        <p:nvPicPr>
          <p:cNvPr id="11" name="Image 2" descr="leaf">    </p:cNvPr>
          <p:cNvPicPr>
            <a:picLocks noChangeAspect="1"/>
          </p:cNvPicPr>
          <p:nvPr/>
        </p:nvPicPr>
        <p:blipFill>
          <a:blip r:embed="rId3"/>
          <a:stretch>
            <a:fillRect/>
          </a:stretch>
        </p:blipFill>
        <p:spPr>
          <a:xfrm>
            <a:off x="8026400" y="2082800"/>
            <a:ext cx="304800" cy="304800"/>
          </a:xfrm>
          <a:prstGeom prst="rect">
            <a:avLst/>
          </a:prstGeom>
        </p:spPr>
      </p:pic>
      <p:sp>
        <p:nvSpPr>
          <p:cNvPr id="12" name="Text 7"/>
          <p:cNvSpPr txBox="1"/>
          <p:nvPr/>
        </p:nvSpPr>
        <p:spPr>
          <a:xfrm>
            <a:off x="8026400" y="2590800"/>
            <a:ext cx="3556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Solar, wind and hybrid</a:t>
            </a:r>
            <a:endParaRPr lang="en-US" sz="1600" dirty="0"/>
          </a:p>
        </p:txBody>
      </p:sp>
      <p:sp>
        <p:nvSpPr>
          <p:cNvPr id="13" name="Text 8"/>
          <p:cNvSpPr txBox="1"/>
          <p:nvPr/>
        </p:nvSpPr>
        <p:spPr>
          <a:xfrm>
            <a:off x="8026400" y="2921000"/>
            <a:ext cx="34036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Plus biomass, storage and exchange power</a:t>
            </a:r>
            <a:endParaRPr lang="en-US" sz="1600" dirty="0"/>
          </a:p>
        </p:txBody>
      </p:sp>
      <p:sp>
        <p:nvSpPr>
          <p:cNvPr id="14" name="Shape 9"/>
          <p:cNvSpPr/>
          <p:nvPr/>
        </p:nvSpPr>
        <p:spPr>
          <a:xfrm>
            <a:off x="609600" y="3962400"/>
            <a:ext cx="3556000" cy="12700"/>
          </a:xfrm>
          <a:prstGeom prst="rect">
            <a:avLst/>
          </a:prstGeom>
          <a:solidFill>
            <a:srgbClr val="E6E2EC"/>
          </a:solidFill>
          <a:ln/>
        </p:spPr>
      </p:sp>
      <p:pic>
        <p:nvPicPr>
          <p:cNvPr id="15" name="Image 3" descr="location">    </p:cNvPr>
          <p:cNvPicPr>
            <a:picLocks noChangeAspect="1"/>
          </p:cNvPicPr>
          <p:nvPr/>
        </p:nvPicPr>
        <p:blipFill>
          <a:blip r:embed="rId4"/>
          <a:stretch>
            <a:fillRect/>
          </a:stretch>
        </p:blipFill>
        <p:spPr>
          <a:xfrm>
            <a:off x="609600" y="4216400"/>
            <a:ext cx="304800" cy="304800"/>
          </a:xfrm>
          <a:prstGeom prst="rect">
            <a:avLst/>
          </a:prstGeom>
        </p:spPr>
      </p:pic>
      <p:sp>
        <p:nvSpPr>
          <p:cNvPr id="16" name="Text 10"/>
          <p:cNvSpPr txBox="1"/>
          <p:nvPr/>
        </p:nvSpPr>
        <p:spPr>
          <a:xfrm>
            <a:off x="609600" y="4724400"/>
            <a:ext cx="3556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16 states</a:t>
            </a:r>
            <a:endParaRPr lang="en-US" sz="1600" dirty="0"/>
          </a:p>
        </p:txBody>
      </p:sp>
      <p:sp>
        <p:nvSpPr>
          <p:cNvPr id="17" name="Text 11"/>
          <p:cNvSpPr txBox="1"/>
          <p:nvPr/>
        </p:nvSpPr>
        <p:spPr>
          <a:xfrm>
            <a:off x="609600" y="5054600"/>
            <a:ext cx="34036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One partner for all your sites</a:t>
            </a:r>
            <a:endParaRPr lang="en-US" sz="1600" dirty="0"/>
          </a:p>
        </p:txBody>
      </p:sp>
      <p:sp>
        <p:nvSpPr>
          <p:cNvPr id="18" name="Shape 12"/>
          <p:cNvSpPr/>
          <p:nvPr/>
        </p:nvSpPr>
        <p:spPr>
          <a:xfrm>
            <a:off x="4318000" y="3962400"/>
            <a:ext cx="3556000" cy="12700"/>
          </a:xfrm>
          <a:prstGeom prst="rect">
            <a:avLst/>
          </a:prstGeom>
          <a:solidFill>
            <a:srgbClr val="E6E2EC"/>
          </a:solidFill>
          <a:ln/>
        </p:spPr>
      </p:sp>
      <p:pic>
        <p:nvPicPr>
          <p:cNvPr id="19" name="Image 4" descr="shield">    </p:cNvPr>
          <p:cNvPicPr>
            <a:picLocks noChangeAspect="1"/>
          </p:cNvPicPr>
          <p:nvPr/>
        </p:nvPicPr>
        <p:blipFill>
          <a:blip r:embed="rId5"/>
          <a:stretch>
            <a:fillRect/>
          </a:stretch>
        </p:blipFill>
        <p:spPr>
          <a:xfrm>
            <a:off x="4318000" y="4216400"/>
            <a:ext cx="304800" cy="304800"/>
          </a:xfrm>
          <a:prstGeom prst="rect">
            <a:avLst/>
          </a:prstGeom>
        </p:spPr>
      </p:pic>
      <p:sp>
        <p:nvSpPr>
          <p:cNvPr id="20" name="Text 13"/>
          <p:cNvSpPr txBox="1"/>
          <p:nvPr/>
        </p:nvSpPr>
        <p:spPr>
          <a:xfrm>
            <a:off x="4318000" y="4724400"/>
            <a:ext cx="3556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Licensed trader</a:t>
            </a:r>
            <a:endParaRPr lang="en-US" sz="1600" dirty="0"/>
          </a:p>
        </p:txBody>
      </p:sp>
      <p:sp>
        <p:nvSpPr>
          <p:cNvPr id="21" name="Text 14"/>
          <p:cNvSpPr txBox="1"/>
          <p:nvPr/>
        </p:nvSpPr>
        <p:spPr>
          <a:xfrm>
            <a:off x="4318000" y="5054600"/>
            <a:ext cx="34036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CERC Category V trading licence</a:t>
            </a:r>
            <a:endParaRPr lang="en-US" sz="1600" dirty="0"/>
          </a:p>
        </p:txBody>
      </p:sp>
      <p:sp>
        <p:nvSpPr>
          <p:cNvPr id="22" name="Shape 15"/>
          <p:cNvSpPr/>
          <p:nvPr/>
        </p:nvSpPr>
        <p:spPr>
          <a:xfrm>
            <a:off x="8026400" y="3962400"/>
            <a:ext cx="3556000" cy="12700"/>
          </a:xfrm>
          <a:prstGeom prst="rect">
            <a:avLst/>
          </a:prstGeom>
          <a:solidFill>
            <a:srgbClr val="E6E2EC"/>
          </a:solidFill>
          <a:ln/>
        </p:spPr>
      </p:sp>
      <p:pic>
        <p:nvPicPr>
          <p:cNvPr id="23" name="Image 5" descr="chart">    </p:cNvPr>
          <p:cNvPicPr>
            <a:picLocks noChangeAspect="1"/>
          </p:cNvPicPr>
          <p:nvPr/>
        </p:nvPicPr>
        <p:blipFill>
          <a:blip r:embed="rId6"/>
          <a:stretch>
            <a:fillRect/>
          </a:stretch>
        </p:blipFill>
        <p:spPr>
          <a:xfrm>
            <a:off x="8026400" y="4216400"/>
            <a:ext cx="304800" cy="304800"/>
          </a:xfrm>
          <a:prstGeom prst="rect">
            <a:avLst/>
          </a:prstGeom>
        </p:spPr>
      </p:pic>
      <p:sp>
        <p:nvSpPr>
          <p:cNvPr id="24" name="Text 16"/>
          <p:cNvSpPr txBox="1"/>
          <p:nvPr/>
        </p:nvSpPr>
        <p:spPr>
          <a:xfrm>
            <a:off x="8026400" y="4724400"/>
            <a:ext cx="3556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One platform</a:t>
            </a:r>
            <a:endParaRPr lang="en-US" sz="1600" dirty="0"/>
          </a:p>
        </p:txBody>
      </p:sp>
      <p:sp>
        <p:nvSpPr>
          <p:cNvPr id="25" name="Text 17"/>
          <p:cNvSpPr txBox="1"/>
          <p:nvPr/>
        </p:nvSpPr>
        <p:spPr>
          <a:xfrm>
            <a:off x="8026400" y="5054600"/>
            <a:ext cx="34036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Every unit tracked in Lumen</a:t>
            </a:r>
            <a:endParaRPr lang="en-US" sz="1600" dirty="0"/>
          </a:p>
        </p:txBody>
      </p:sp>
      <p:sp>
        <p:nvSpPr>
          <p:cNvPr id="26"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Why companies buy power through Neufin</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09600" y="1828800"/>
            <a:ext cx="2628900" cy="1219200"/>
          </a:xfrm>
          <a:prstGeom prst="rect">
            <a:avLst/>
          </a:prstGeom>
          <a:solidFill>
            <a:srgbClr val="F7F5FA"/>
          </a:solidFill>
          <a:ln/>
        </p:spPr>
      </p:sp>
      <p:sp>
        <p:nvSpPr>
          <p:cNvPr id="3" name="Text 1"/>
          <p:cNvSpPr txBox="1"/>
          <p:nvPr/>
        </p:nvSpPr>
        <p:spPr>
          <a:xfrm>
            <a:off x="609600" y="18288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4" name="Shape 2"/>
          <p:cNvSpPr/>
          <p:nvPr/>
        </p:nvSpPr>
        <p:spPr>
          <a:xfrm>
            <a:off x="3390900" y="1828800"/>
            <a:ext cx="2628900" cy="1219200"/>
          </a:xfrm>
          <a:prstGeom prst="rect">
            <a:avLst/>
          </a:prstGeom>
          <a:solidFill>
            <a:srgbClr val="F7F5FA"/>
          </a:solidFill>
          <a:ln/>
        </p:spPr>
      </p:sp>
      <p:sp>
        <p:nvSpPr>
          <p:cNvPr id="5" name="Text 3"/>
          <p:cNvSpPr txBox="1"/>
          <p:nvPr/>
        </p:nvSpPr>
        <p:spPr>
          <a:xfrm>
            <a:off x="3390900" y="18288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6" name="Shape 4"/>
          <p:cNvSpPr/>
          <p:nvPr/>
        </p:nvSpPr>
        <p:spPr>
          <a:xfrm>
            <a:off x="6172200" y="1828800"/>
            <a:ext cx="2628900" cy="1219200"/>
          </a:xfrm>
          <a:prstGeom prst="rect">
            <a:avLst/>
          </a:prstGeom>
          <a:solidFill>
            <a:srgbClr val="F7F5FA"/>
          </a:solidFill>
          <a:ln/>
        </p:spPr>
      </p:sp>
      <p:sp>
        <p:nvSpPr>
          <p:cNvPr id="7" name="Text 5"/>
          <p:cNvSpPr txBox="1"/>
          <p:nvPr/>
        </p:nvSpPr>
        <p:spPr>
          <a:xfrm>
            <a:off x="6172200" y="18288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8" name="Shape 6"/>
          <p:cNvSpPr/>
          <p:nvPr/>
        </p:nvSpPr>
        <p:spPr>
          <a:xfrm>
            <a:off x="8953500" y="1828800"/>
            <a:ext cx="2628900" cy="1219200"/>
          </a:xfrm>
          <a:prstGeom prst="rect">
            <a:avLst/>
          </a:prstGeom>
          <a:solidFill>
            <a:srgbClr val="F7F5FA"/>
          </a:solidFill>
          <a:ln/>
        </p:spPr>
      </p:sp>
      <p:sp>
        <p:nvSpPr>
          <p:cNvPr id="9" name="Text 7"/>
          <p:cNvSpPr txBox="1"/>
          <p:nvPr/>
        </p:nvSpPr>
        <p:spPr>
          <a:xfrm>
            <a:off x="8953500" y="18288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0" name="Shape 8"/>
          <p:cNvSpPr/>
          <p:nvPr/>
        </p:nvSpPr>
        <p:spPr>
          <a:xfrm>
            <a:off x="609600" y="3200400"/>
            <a:ext cx="2628900" cy="1219200"/>
          </a:xfrm>
          <a:prstGeom prst="rect">
            <a:avLst/>
          </a:prstGeom>
          <a:solidFill>
            <a:srgbClr val="F7F5FA"/>
          </a:solidFill>
          <a:ln/>
        </p:spPr>
      </p:sp>
      <p:sp>
        <p:nvSpPr>
          <p:cNvPr id="11" name="Text 9"/>
          <p:cNvSpPr txBox="1"/>
          <p:nvPr/>
        </p:nvSpPr>
        <p:spPr>
          <a:xfrm>
            <a:off x="609600" y="32004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2" name="Shape 10"/>
          <p:cNvSpPr/>
          <p:nvPr/>
        </p:nvSpPr>
        <p:spPr>
          <a:xfrm>
            <a:off x="3390900" y="3200400"/>
            <a:ext cx="2628900" cy="1219200"/>
          </a:xfrm>
          <a:prstGeom prst="rect">
            <a:avLst/>
          </a:prstGeom>
          <a:solidFill>
            <a:srgbClr val="F7F5FA"/>
          </a:solidFill>
          <a:ln/>
        </p:spPr>
      </p:sp>
      <p:sp>
        <p:nvSpPr>
          <p:cNvPr id="13" name="Text 11"/>
          <p:cNvSpPr txBox="1"/>
          <p:nvPr/>
        </p:nvSpPr>
        <p:spPr>
          <a:xfrm>
            <a:off x="3390900" y="32004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4" name="Shape 12"/>
          <p:cNvSpPr/>
          <p:nvPr/>
        </p:nvSpPr>
        <p:spPr>
          <a:xfrm>
            <a:off x="6172200" y="3200400"/>
            <a:ext cx="2628900" cy="1219200"/>
          </a:xfrm>
          <a:prstGeom prst="rect">
            <a:avLst/>
          </a:prstGeom>
          <a:solidFill>
            <a:srgbClr val="F7F5FA"/>
          </a:solidFill>
          <a:ln/>
        </p:spPr>
      </p:sp>
      <p:sp>
        <p:nvSpPr>
          <p:cNvPr id="15" name="Text 13"/>
          <p:cNvSpPr txBox="1"/>
          <p:nvPr/>
        </p:nvSpPr>
        <p:spPr>
          <a:xfrm>
            <a:off x="6172200" y="32004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6" name="Shape 14"/>
          <p:cNvSpPr/>
          <p:nvPr/>
        </p:nvSpPr>
        <p:spPr>
          <a:xfrm>
            <a:off x="8953500" y="3200400"/>
            <a:ext cx="2628900" cy="1219200"/>
          </a:xfrm>
          <a:prstGeom prst="rect">
            <a:avLst/>
          </a:prstGeom>
          <a:solidFill>
            <a:srgbClr val="F7F5FA"/>
          </a:solidFill>
          <a:ln/>
        </p:spPr>
      </p:sp>
      <p:sp>
        <p:nvSpPr>
          <p:cNvPr id="17" name="Text 15"/>
          <p:cNvSpPr txBox="1"/>
          <p:nvPr/>
        </p:nvSpPr>
        <p:spPr>
          <a:xfrm>
            <a:off x="8953500" y="32004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8" name="Shape 16"/>
          <p:cNvSpPr/>
          <p:nvPr/>
        </p:nvSpPr>
        <p:spPr>
          <a:xfrm>
            <a:off x="609600" y="4572000"/>
            <a:ext cx="2628900" cy="1219200"/>
          </a:xfrm>
          <a:prstGeom prst="rect">
            <a:avLst/>
          </a:prstGeom>
          <a:solidFill>
            <a:srgbClr val="F7F5FA"/>
          </a:solidFill>
          <a:ln/>
        </p:spPr>
      </p:sp>
      <p:sp>
        <p:nvSpPr>
          <p:cNvPr id="19" name="Text 17"/>
          <p:cNvSpPr txBox="1"/>
          <p:nvPr/>
        </p:nvSpPr>
        <p:spPr>
          <a:xfrm>
            <a:off x="609600" y="45720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0" name="Shape 18"/>
          <p:cNvSpPr/>
          <p:nvPr/>
        </p:nvSpPr>
        <p:spPr>
          <a:xfrm>
            <a:off x="3390900" y="4572000"/>
            <a:ext cx="2628900" cy="1219200"/>
          </a:xfrm>
          <a:prstGeom prst="rect">
            <a:avLst/>
          </a:prstGeom>
          <a:solidFill>
            <a:srgbClr val="F7F5FA"/>
          </a:solidFill>
          <a:ln/>
        </p:spPr>
      </p:sp>
      <p:sp>
        <p:nvSpPr>
          <p:cNvPr id="21" name="Text 19"/>
          <p:cNvSpPr txBox="1"/>
          <p:nvPr/>
        </p:nvSpPr>
        <p:spPr>
          <a:xfrm>
            <a:off x="3390900" y="45720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2" name="Shape 20"/>
          <p:cNvSpPr/>
          <p:nvPr/>
        </p:nvSpPr>
        <p:spPr>
          <a:xfrm>
            <a:off x="6172200" y="4572000"/>
            <a:ext cx="2628900" cy="1219200"/>
          </a:xfrm>
          <a:prstGeom prst="rect">
            <a:avLst/>
          </a:prstGeom>
          <a:solidFill>
            <a:srgbClr val="F7F5FA"/>
          </a:solidFill>
          <a:ln/>
        </p:spPr>
      </p:sp>
      <p:sp>
        <p:nvSpPr>
          <p:cNvPr id="23" name="Text 21"/>
          <p:cNvSpPr txBox="1"/>
          <p:nvPr/>
        </p:nvSpPr>
        <p:spPr>
          <a:xfrm>
            <a:off x="6172200" y="45720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4" name="Shape 22"/>
          <p:cNvSpPr/>
          <p:nvPr/>
        </p:nvSpPr>
        <p:spPr>
          <a:xfrm>
            <a:off x="8953500" y="4572000"/>
            <a:ext cx="2628900" cy="1219200"/>
          </a:xfrm>
          <a:prstGeom prst="rect">
            <a:avLst/>
          </a:prstGeom>
          <a:solidFill>
            <a:srgbClr val="F7F5FA"/>
          </a:solidFill>
          <a:ln/>
        </p:spPr>
      </p:sp>
      <p:sp>
        <p:nvSpPr>
          <p:cNvPr id="25" name="Text 23"/>
          <p:cNvSpPr txBox="1"/>
          <p:nvPr/>
        </p:nvSpPr>
        <p:spPr>
          <a:xfrm>
            <a:off x="8953500" y="4572000"/>
            <a:ext cx="2628900" cy="12192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6"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Companies across India buy power through Neufin</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09600" y="1828800"/>
            <a:ext cx="26289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Customers</a:t>
            </a:r>
            <a:endParaRPr lang="en-US" sz="1600" dirty="0"/>
          </a:p>
        </p:txBody>
      </p:sp>
      <p:sp>
        <p:nvSpPr>
          <p:cNvPr id="3" name="Shape 1"/>
          <p:cNvSpPr/>
          <p:nvPr/>
        </p:nvSpPr>
        <p:spPr>
          <a:xfrm>
            <a:off x="609600" y="2184400"/>
            <a:ext cx="1701800" cy="863600"/>
          </a:xfrm>
          <a:prstGeom prst="rect">
            <a:avLst/>
          </a:prstGeom>
          <a:solidFill>
            <a:srgbClr val="F7F5FA"/>
          </a:solidFill>
          <a:ln/>
        </p:spPr>
      </p:sp>
      <p:sp>
        <p:nvSpPr>
          <p:cNvPr id="4" name="Text 2"/>
          <p:cNvSpPr txBox="1"/>
          <p:nvPr/>
        </p:nvSpPr>
        <p:spPr>
          <a:xfrm>
            <a:off x="609600" y="21844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5" name="Shape 3"/>
          <p:cNvSpPr/>
          <p:nvPr/>
        </p:nvSpPr>
        <p:spPr>
          <a:xfrm>
            <a:off x="2463800" y="2184400"/>
            <a:ext cx="1701800" cy="863600"/>
          </a:xfrm>
          <a:prstGeom prst="rect">
            <a:avLst/>
          </a:prstGeom>
          <a:solidFill>
            <a:srgbClr val="F7F5FA"/>
          </a:solidFill>
          <a:ln/>
        </p:spPr>
      </p:sp>
      <p:sp>
        <p:nvSpPr>
          <p:cNvPr id="6" name="Text 4"/>
          <p:cNvSpPr txBox="1"/>
          <p:nvPr/>
        </p:nvSpPr>
        <p:spPr>
          <a:xfrm>
            <a:off x="2463800" y="21844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7" name="Shape 5"/>
          <p:cNvSpPr/>
          <p:nvPr/>
        </p:nvSpPr>
        <p:spPr>
          <a:xfrm>
            <a:off x="4318000" y="2184400"/>
            <a:ext cx="1701800" cy="863600"/>
          </a:xfrm>
          <a:prstGeom prst="rect">
            <a:avLst/>
          </a:prstGeom>
          <a:solidFill>
            <a:srgbClr val="F7F5FA"/>
          </a:solidFill>
          <a:ln/>
        </p:spPr>
      </p:sp>
      <p:sp>
        <p:nvSpPr>
          <p:cNvPr id="8" name="Text 6"/>
          <p:cNvSpPr txBox="1"/>
          <p:nvPr/>
        </p:nvSpPr>
        <p:spPr>
          <a:xfrm>
            <a:off x="4318000" y="21844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9" name="Shape 7"/>
          <p:cNvSpPr/>
          <p:nvPr/>
        </p:nvSpPr>
        <p:spPr>
          <a:xfrm>
            <a:off x="6172200" y="2184400"/>
            <a:ext cx="1701800" cy="863600"/>
          </a:xfrm>
          <a:prstGeom prst="rect">
            <a:avLst/>
          </a:prstGeom>
          <a:solidFill>
            <a:srgbClr val="F7F5FA"/>
          </a:solidFill>
          <a:ln/>
        </p:spPr>
      </p:sp>
      <p:sp>
        <p:nvSpPr>
          <p:cNvPr id="10" name="Text 8"/>
          <p:cNvSpPr txBox="1"/>
          <p:nvPr/>
        </p:nvSpPr>
        <p:spPr>
          <a:xfrm>
            <a:off x="6172200" y="21844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1" name="Shape 9"/>
          <p:cNvSpPr/>
          <p:nvPr/>
        </p:nvSpPr>
        <p:spPr>
          <a:xfrm>
            <a:off x="8026400" y="2184400"/>
            <a:ext cx="1701800" cy="863600"/>
          </a:xfrm>
          <a:prstGeom prst="rect">
            <a:avLst/>
          </a:prstGeom>
          <a:solidFill>
            <a:srgbClr val="F7F5FA"/>
          </a:solidFill>
          <a:ln/>
        </p:spPr>
      </p:sp>
      <p:sp>
        <p:nvSpPr>
          <p:cNvPr id="12" name="Text 10"/>
          <p:cNvSpPr txBox="1"/>
          <p:nvPr/>
        </p:nvSpPr>
        <p:spPr>
          <a:xfrm>
            <a:off x="8026400" y="21844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3" name="Shape 11"/>
          <p:cNvSpPr/>
          <p:nvPr/>
        </p:nvSpPr>
        <p:spPr>
          <a:xfrm>
            <a:off x="9880600" y="2184400"/>
            <a:ext cx="1701800" cy="863600"/>
          </a:xfrm>
          <a:prstGeom prst="rect">
            <a:avLst/>
          </a:prstGeom>
          <a:solidFill>
            <a:srgbClr val="F7F5FA"/>
          </a:solidFill>
          <a:ln/>
        </p:spPr>
      </p:sp>
      <p:sp>
        <p:nvSpPr>
          <p:cNvPr id="14" name="Text 12"/>
          <p:cNvSpPr txBox="1"/>
          <p:nvPr/>
        </p:nvSpPr>
        <p:spPr>
          <a:xfrm>
            <a:off x="9880600" y="21844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5" name="Text 13"/>
          <p:cNvSpPr txBox="1"/>
          <p:nvPr/>
        </p:nvSpPr>
        <p:spPr>
          <a:xfrm>
            <a:off x="609600" y="3251200"/>
            <a:ext cx="26289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Power partners</a:t>
            </a:r>
            <a:endParaRPr lang="en-US" sz="1600" dirty="0"/>
          </a:p>
        </p:txBody>
      </p:sp>
      <p:sp>
        <p:nvSpPr>
          <p:cNvPr id="16" name="Shape 14"/>
          <p:cNvSpPr/>
          <p:nvPr/>
        </p:nvSpPr>
        <p:spPr>
          <a:xfrm>
            <a:off x="609600" y="3606800"/>
            <a:ext cx="1701800" cy="863600"/>
          </a:xfrm>
          <a:prstGeom prst="rect">
            <a:avLst/>
          </a:prstGeom>
          <a:solidFill>
            <a:srgbClr val="F7F5FA"/>
          </a:solidFill>
          <a:ln/>
        </p:spPr>
      </p:sp>
      <p:sp>
        <p:nvSpPr>
          <p:cNvPr id="17" name="Text 15"/>
          <p:cNvSpPr txBox="1"/>
          <p:nvPr/>
        </p:nvSpPr>
        <p:spPr>
          <a:xfrm>
            <a:off x="609600" y="36068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18" name="Shape 16"/>
          <p:cNvSpPr/>
          <p:nvPr/>
        </p:nvSpPr>
        <p:spPr>
          <a:xfrm>
            <a:off x="2463800" y="3606800"/>
            <a:ext cx="1701800" cy="863600"/>
          </a:xfrm>
          <a:prstGeom prst="rect">
            <a:avLst/>
          </a:prstGeom>
          <a:solidFill>
            <a:srgbClr val="F7F5FA"/>
          </a:solidFill>
          <a:ln/>
        </p:spPr>
      </p:sp>
      <p:sp>
        <p:nvSpPr>
          <p:cNvPr id="19" name="Text 17"/>
          <p:cNvSpPr txBox="1"/>
          <p:nvPr/>
        </p:nvSpPr>
        <p:spPr>
          <a:xfrm>
            <a:off x="2463800" y="36068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0" name="Shape 18"/>
          <p:cNvSpPr/>
          <p:nvPr/>
        </p:nvSpPr>
        <p:spPr>
          <a:xfrm>
            <a:off x="4318000" y="3606800"/>
            <a:ext cx="1701800" cy="863600"/>
          </a:xfrm>
          <a:prstGeom prst="rect">
            <a:avLst/>
          </a:prstGeom>
          <a:solidFill>
            <a:srgbClr val="F7F5FA"/>
          </a:solidFill>
          <a:ln/>
        </p:spPr>
      </p:sp>
      <p:sp>
        <p:nvSpPr>
          <p:cNvPr id="21" name="Text 19"/>
          <p:cNvSpPr txBox="1"/>
          <p:nvPr/>
        </p:nvSpPr>
        <p:spPr>
          <a:xfrm>
            <a:off x="4318000" y="36068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2" name="Shape 20"/>
          <p:cNvSpPr/>
          <p:nvPr/>
        </p:nvSpPr>
        <p:spPr>
          <a:xfrm>
            <a:off x="6172200" y="3606800"/>
            <a:ext cx="1701800" cy="863600"/>
          </a:xfrm>
          <a:prstGeom prst="rect">
            <a:avLst/>
          </a:prstGeom>
          <a:solidFill>
            <a:srgbClr val="F7F5FA"/>
          </a:solidFill>
          <a:ln/>
        </p:spPr>
      </p:sp>
      <p:sp>
        <p:nvSpPr>
          <p:cNvPr id="23" name="Text 21"/>
          <p:cNvSpPr txBox="1"/>
          <p:nvPr/>
        </p:nvSpPr>
        <p:spPr>
          <a:xfrm>
            <a:off x="6172200" y="36068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4" name="Shape 22"/>
          <p:cNvSpPr/>
          <p:nvPr/>
        </p:nvSpPr>
        <p:spPr>
          <a:xfrm>
            <a:off x="8026400" y="3606800"/>
            <a:ext cx="1701800" cy="863600"/>
          </a:xfrm>
          <a:prstGeom prst="rect">
            <a:avLst/>
          </a:prstGeom>
          <a:solidFill>
            <a:srgbClr val="F7F5FA"/>
          </a:solidFill>
          <a:ln/>
        </p:spPr>
      </p:sp>
      <p:sp>
        <p:nvSpPr>
          <p:cNvPr id="25" name="Text 23"/>
          <p:cNvSpPr txBox="1"/>
          <p:nvPr/>
        </p:nvSpPr>
        <p:spPr>
          <a:xfrm>
            <a:off x="8026400" y="36068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6" name="Shape 24"/>
          <p:cNvSpPr/>
          <p:nvPr/>
        </p:nvSpPr>
        <p:spPr>
          <a:xfrm>
            <a:off x="9880600" y="3606800"/>
            <a:ext cx="1701800" cy="863600"/>
          </a:xfrm>
          <a:prstGeom prst="rect">
            <a:avLst/>
          </a:prstGeom>
          <a:solidFill>
            <a:srgbClr val="F7F5FA"/>
          </a:solidFill>
          <a:ln/>
        </p:spPr>
      </p:sp>
      <p:sp>
        <p:nvSpPr>
          <p:cNvPr id="27" name="Text 25"/>
          <p:cNvSpPr txBox="1"/>
          <p:nvPr/>
        </p:nvSpPr>
        <p:spPr>
          <a:xfrm>
            <a:off x="9880600" y="36068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28" name="Text 26"/>
          <p:cNvSpPr txBox="1"/>
          <p:nvPr/>
        </p:nvSpPr>
        <p:spPr>
          <a:xfrm>
            <a:off x="609600" y="4673600"/>
            <a:ext cx="26289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Investors</a:t>
            </a:r>
            <a:endParaRPr lang="en-US" sz="1600" dirty="0"/>
          </a:p>
        </p:txBody>
      </p:sp>
      <p:sp>
        <p:nvSpPr>
          <p:cNvPr id="29" name="Shape 27"/>
          <p:cNvSpPr/>
          <p:nvPr/>
        </p:nvSpPr>
        <p:spPr>
          <a:xfrm>
            <a:off x="609600" y="5029200"/>
            <a:ext cx="1701800" cy="863600"/>
          </a:xfrm>
          <a:prstGeom prst="rect">
            <a:avLst/>
          </a:prstGeom>
          <a:solidFill>
            <a:srgbClr val="F7F5FA"/>
          </a:solidFill>
          <a:ln/>
        </p:spPr>
      </p:sp>
      <p:sp>
        <p:nvSpPr>
          <p:cNvPr id="30" name="Text 28"/>
          <p:cNvSpPr txBox="1"/>
          <p:nvPr/>
        </p:nvSpPr>
        <p:spPr>
          <a:xfrm>
            <a:off x="609600" y="50292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31" name="Shape 29"/>
          <p:cNvSpPr/>
          <p:nvPr/>
        </p:nvSpPr>
        <p:spPr>
          <a:xfrm>
            <a:off x="2463800" y="5029200"/>
            <a:ext cx="1701800" cy="863600"/>
          </a:xfrm>
          <a:prstGeom prst="rect">
            <a:avLst/>
          </a:prstGeom>
          <a:solidFill>
            <a:srgbClr val="F7F5FA"/>
          </a:solidFill>
          <a:ln/>
        </p:spPr>
      </p:sp>
      <p:sp>
        <p:nvSpPr>
          <p:cNvPr id="32" name="Text 30"/>
          <p:cNvSpPr txBox="1"/>
          <p:nvPr/>
        </p:nvSpPr>
        <p:spPr>
          <a:xfrm>
            <a:off x="2463800" y="50292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33" name="Shape 31"/>
          <p:cNvSpPr/>
          <p:nvPr/>
        </p:nvSpPr>
        <p:spPr>
          <a:xfrm>
            <a:off x="4318000" y="5029200"/>
            <a:ext cx="1701800" cy="863600"/>
          </a:xfrm>
          <a:prstGeom prst="rect">
            <a:avLst/>
          </a:prstGeom>
          <a:solidFill>
            <a:srgbClr val="F7F5FA"/>
          </a:solidFill>
          <a:ln/>
        </p:spPr>
      </p:sp>
      <p:sp>
        <p:nvSpPr>
          <p:cNvPr id="34" name="Text 32"/>
          <p:cNvSpPr txBox="1"/>
          <p:nvPr/>
        </p:nvSpPr>
        <p:spPr>
          <a:xfrm>
            <a:off x="4318000" y="50292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35" name="Shape 33"/>
          <p:cNvSpPr/>
          <p:nvPr/>
        </p:nvSpPr>
        <p:spPr>
          <a:xfrm>
            <a:off x="6172200" y="5029200"/>
            <a:ext cx="1701800" cy="863600"/>
          </a:xfrm>
          <a:prstGeom prst="rect">
            <a:avLst/>
          </a:prstGeom>
          <a:solidFill>
            <a:srgbClr val="F7F5FA"/>
          </a:solidFill>
          <a:ln/>
        </p:spPr>
      </p:sp>
      <p:sp>
        <p:nvSpPr>
          <p:cNvPr id="36" name="Text 34"/>
          <p:cNvSpPr txBox="1"/>
          <p:nvPr/>
        </p:nvSpPr>
        <p:spPr>
          <a:xfrm>
            <a:off x="6172200" y="50292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37" name="Shape 35"/>
          <p:cNvSpPr/>
          <p:nvPr/>
        </p:nvSpPr>
        <p:spPr>
          <a:xfrm>
            <a:off x="8026400" y="5029200"/>
            <a:ext cx="1701800" cy="863600"/>
          </a:xfrm>
          <a:prstGeom prst="rect">
            <a:avLst/>
          </a:prstGeom>
          <a:solidFill>
            <a:srgbClr val="F7F5FA"/>
          </a:solidFill>
          <a:ln/>
        </p:spPr>
      </p:sp>
      <p:sp>
        <p:nvSpPr>
          <p:cNvPr id="38" name="Text 36"/>
          <p:cNvSpPr txBox="1"/>
          <p:nvPr/>
        </p:nvSpPr>
        <p:spPr>
          <a:xfrm>
            <a:off x="8026400" y="50292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39" name="Shape 37"/>
          <p:cNvSpPr/>
          <p:nvPr/>
        </p:nvSpPr>
        <p:spPr>
          <a:xfrm>
            <a:off x="9880600" y="5029200"/>
            <a:ext cx="1701800" cy="863600"/>
          </a:xfrm>
          <a:prstGeom prst="rect">
            <a:avLst/>
          </a:prstGeom>
          <a:solidFill>
            <a:srgbClr val="F7F5FA"/>
          </a:solidFill>
          <a:ln/>
        </p:spPr>
      </p:sp>
      <p:sp>
        <p:nvSpPr>
          <p:cNvPr id="40" name="Text 38"/>
          <p:cNvSpPr txBox="1"/>
          <p:nvPr/>
        </p:nvSpPr>
        <p:spPr>
          <a:xfrm>
            <a:off x="9880600" y="5029200"/>
            <a:ext cx="1701800" cy="863600"/>
          </a:xfrm>
          <a:prstGeom prst="rect">
            <a:avLst/>
          </a:prstGeom>
          <a:noFill/>
          <a:ln/>
        </p:spPr>
        <p:txBody>
          <a:bodyPr wrap="square" lIns="0" tIns="0" rIns="0" bIns="0" rtlCol="0" anchor="ctr"/>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Logo</a:t>
            </a:r>
            <a:endParaRPr lang="en-US" sz="1200" dirty="0"/>
          </a:p>
        </p:txBody>
      </p:sp>
      <p:sp>
        <p:nvSpPr>
          <p:cNvPr id="41"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Backed by customers, suppliers and investors</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A"/>
        </a:solidFill>
      </p:bgPr>
    </p:bg>
    <p:spTree>
      <p:nvGrpSpPr>
        <p:cNvPr id="1" name=""/>
        <p:cNvGrpSpPr/>
        <p:nvPr/>
      </p:nvGrpSpPr>
      <p:grpSpPr>
        <a:xfrm>
          <a:off x="0" y="0"/>
          <a:ext cx="0" cy="0"/>
          <a:chOff x="0" y="0"/>
          <a:chExt cx="0" cy="0"/>
        </a:xfrm>
      </p:grpSpPr>
      <p:sp>
        <p:nvSpPr>
          <p:cNvPr id="2" name="Text 0"/>
          <p:cNvSpPr txBox="1"/>
          <p:nvPr/>
        </p:nvSpPr>
        <p:spPr>
          <a:xfrm>
            <a:off x="609600" y="1828800"/>
            <a:ext cx="91186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19161F"/>
                </a:solidFill>
                <a:latin typeface="Arial" pitchFamily="34" charset="0"/>
                <a:ea typeface="Arial" pitchFamily="34" charset="-122"/>
                <a:cs typeface="Arial" pitchFamily="34" charset="-120"/>
              </a:rPr>
              <a:t>“We cut our power bill by a third in the first year.”</a:t>
            </a:r>
            <a:endParaRPr lang="en-US" sz="4800" dirty="0"/>
          </a:p>
        </p:txBody>
      </p:sp>
      <p:pic>
        <p:nvPicPr>
          <p:cNvPr id="3" name="Image 0" descr="Neufin Stripe">    </p:cNvPr>
          <p:cNvPicPr>
            <a:picLocks noChangeAspect="1"/>
          </p:cNvPicPr>
          <p:nvPr/>
        </p:nvPicPr>
        <p:blipFill>
          <a:blip r:embed="rId1"/>
          <a:stretch>
            <a:fillRect/>
          </a:stretch>
        </p:blipFill>
        <p:spPr>
          <a:xfrm>
            <a:off x="0" y="0"/>
            <a:ext cx="12192000" cy="6858000"/>
          </a:xfrm>
          <a:prstGeom prst="rect">
            <a:avLst/>
          </a:prstGeom>
        </p:spPr>
      </p:pic>
      <p:sp>
        <p:nvSpPr>
          <p:cNvPr id="4" name="Text 1"/>
          <p:cNvSpPr txBox="1"/>
          <p:nvPr/>
        </p:nvSpPr>
        <p:spPr>
          <a:xfrm>
            <a:off x="7099300" y="3657600"/>
            <a:ext cx="44831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Name Surname</a:t>
            </a:r>
            <a:endParaRPr lang="en-US" sz="1600" dirty="0"/>
          </a:p>
        </p:txBody>
      </p:sp>
      <p:sp>
        <p:nvSpPr>
          <p:cNvPr id="5" name="Text 2"/>
          <p:cNvSpPr txBox="1"/>
          <p:nvPr/>
        </p:nvSpPr>
        <p:spPr>
          <a:xfrm>
            <a:off x="7099300" y="3962400"/>
            <a:ext cx="44831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Head of Facilities, Company</a:t>
            </a:r>
            <a:endParaRPr lang="en-US" sz="1600" dirty="0"/>
          </a:p>
        </p:txBody>
      </p:sp>
      <p:sp>
        <p:nvSpPr>
          <p:cNvPr id="6"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What customers say</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hoto">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9161F">
              <a:alpha val="45000"/>
            </a:srgbClr>
          </a:solidFill>
          <a:ln/>
        </p:spPr>
      </p:sp>
      <p:pic>
        <p:nvPicPr>
          <p:cNvPr id="4" name="Image 1" descr="Neufin Energy">    </p:cNvPr>
          <p:cNvPicPr>
            <a:picLocks noChangeAspect="1"/>
          </p:cNvPicPr>
          <p:nvPr/>
        </p:nvPicPr>
        <p:blipFill>
          <a:blip r:embed="rId2"/>
          <a:stretch>
            <a:fillRect/>
          </a:stretch>
        </p:blipFill>
        <p:spPr>
          <a:xfrm>
            <a:off x="609600" y="508000"/>
            <a:ext cx="3000375" cy="355600"/>
          </a:xfrm>
          <a:prstGeom prst="rect">
            <a:avLst/>
          </a:prstGeom>
        </p:spPr>
      </p:pic>
      <p:sp>
        <p:nvSpPr>
          <p:cNvPr id="5" name="Text 0"/>
          <p:cNvSpPr/>
          <p:nvPr>
            <p:ph idx="100" type="title" hasCustomPrompt="1"/>
          </p:nvPr>
        </p:nvSpPr>
        <p:spPr>
          <a:xfrm>
            <a:off x="609600" y="4064000"/>
            <a:ext cx="81915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Built for sites that</a:t>
            </a:r>
            <a:endParaRPr lang="en-US" sz="4800" dirty="0"/>
          </a:p>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run around the clock</a:t>
            </a:r>
            <a:endParaRPr lang="en-US" sz="4800" dirty="0"/>
          </a:p>
        </p:txBody>
      </p:sp>
      <p:sp>
        <p:nvSpPr>
          <p:cNvPr id="6" name="Text 0"/>
          <p:cNvSpPr/>
          <p:nvPr>
            <p:ph idx="101" type="body" hasCustomPrompt="1"/>
          </p:nvPr>
        </p:nvSpPr>
        <p:spPr>
          <a:xfrm>
            <a:off x="609600" y="5588000"/>
            <a:ext cx="7264400" cy="609600"/>
          </a:xfrm>
          <a:prstGeom prst="rect">
            <a:avLst/>
          </a:prstGeom>
          <a:noFill/>
          <a:ln/>
        </p:spPr>
        <p:txBody>
          <a:bodyPr wrap="square" lIns="0" tIns="0" rIns="0" bIns="0" rtlCol="0" anchor="t"/>
          <a:lstStyle/>
          <a:p>
            <a:pPr algn="l" indent="0" marL="0">
              <a:lnSpc>
                <a:spcPct val="135000"/>
              </a:lnSpc>
              <a:buNone/>
            </a:pPr>
            <a:r>
              <a:rPr lang="en-US" sz="1600" dirty="0">
                <a:solidFill>
                  <a:srgbClr val="FFFFFF"/>
                </a:solidFill>
                <a:latin typeface="Arial" pitchFamily="34" charset="0"/>
                <a:ea typeface="Arial" pitchFamily="34" charset="-122"/>
                <a:cs typeface="Arial" pitchFamily="34" charset="-120"/>
              </a:rPr>
              <a:t>Factories, offices, hospitals and data centres across 16 states.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hoto">    </p:cNvPr>
          <p:cNvPicPr>
            <a:picLocks noChangeAspect="1"/>
          </p:cNvPicPr>
          <p:nvPr/>
        </p:nvPicPr>
        <p:blipFill>
          <a:blip r:embed="rId1"/>
          <a:stretch>
            <a:fillRect/>
          </a:stretch>
        </p:blipFill>
        <p:spPr>
          <a:xfrm>
            <a:off x="6096000" y="0"/>
            <a:ext cx="6096000" cy="6858000"/>
          </a:xfrm>
          <a:prstGeom prst="rect">
            <a:avLst/>
          </a:prstGeom>
        </p:spPr>
      </p:pic>
      <p:sp>
        <p:nvSpPr>
          <p:cNvPr id="3" name="Text 0"/>
          <p:cNvSpPr/>
          <p:nvPr>
            <p:ph idx="101" type="title" hasCustomPrompt="1"/>
          </p:nvPr>
        </p:nvSpPr>
        <p:spPr>
          <a:xfrm>
            <a:off x="609600" y="558800"/>
            <a:ext cx="4483100" cy="172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Renewable power now costs less than the grid</a:t>
            </a:r>
            <a:endParaRPr lang="en-US" sz="2800" dirty="0"/>
          </a:p>
        </p:txBody>
      </p:sp>
      <p:sp>
        <p:nvSpPr>
          <p:cNvPr id="4" name="Text 0"/>
          <p:cNvSpPr/>
          <p:nvPr>
            <p:ph idx="102" type="body" hasCustomPrompt="1"/>
          </p:nvPr>
        </p:nvSpPr>
        <p:spPr>
          <a:xfrm>
            <a:off x="609600" y="2540000"/>
            <a:ext cx="4483100" cy="25400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In most states, solar and wind bought through open access land below the grid tariff, even after transmission and wheeling charges.</a:t>
            </a:r>
            <a:endParaRPr lang="en-US" sz="1600" dirty="0"/>
          </a:p>
        </p:txBody>
      </p:sp>
      <p:sp>
        <p:nvSpPr>
          <p:cNvPr id="6" name="Text 0"/>
          <p:cNvSpPr/>
          <p:nvPr>
            <p:ph idx="103" hasCustomPrompt="1"/>
          </p:nvPr>
        </p:nvSpPr>
        <p:spPr>
          <a:xfrm>
            <a:off x="6096000" y="0"/>
            <a:ext cx="6096000" cy="6858000"/>
          </a:xfrm>
          <a:prstGeom prst="rect">
            <a:avLst/>
          </a:prstGeom>
          <a:noFill/>
          <a:ln/>
        </p:spPr>
        <p:txBody>
          <a:bodyPr wrap="square" rtlCol="0"/>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hoto">    </p:cNvPr>
          <p:cNvPicPr>
            <a:picLocks noChangeAspect="1"/>
          </p:cNvPicPr>
          <p:nvPr/>
        </p:nvPicPr>
        <p:blipFill>
          <a:blip r:embed="rId1"/>
          <a:stretch>
            <a:fillRect/>
          </a:stretch>
        </p:blipFill>
        <p:spPr>
          <a:xfrm>
            <a:off x="0" y="0"/>
            <a:ext cx="6096000" cy="6858000"/>
          </a:xfrm>
          <a:prstGeom prst="rect">
            <a:avLst/>
          </a:prstGeom>
        </p:spPr>
      </p:pic>
      <p:sp>
        <p:nvSpPr>
          <p:cNvPr id="3" name="Text 0"/>
          <p:cNvSpPr/>
          <p:nvPr>
            <p:ph idx="101" type="title" hasCustomPrompt="1"/>
          </p:nvPr>
        </p:nvSpPr>
        <p:spPr>
          <a:xfrm>
            <a:off x="7099300" y="558800"/>
            <a:ext cx="4483100" cy="172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We deliver the project, not just the contract</a:t>
            </a:r>
            <a:endParaRPr lang="en-US" sz="2800" dirty="0"/>
          </a:p>
        </p:txBody>
      </p:sp>
      <p:sp>
        <p:nvSpPr>
          <p:cNvPr id="4" name="Text 0"/>
          <p:cNvSpPr/>
          <p:nvPr>
            <p:ph idx="102" type="body" hasCustomPrompt="1"/>
          </p:nvPr>
        </p:nvSpPr>
        <p:spPr>
          <a:xfrm>
            <a:off x="7099300" y="2540000"/>
            <a:ext cx="4483100" cy="25400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Our team handles the agreement, the metering and the DISCOM approvals until power starts flowing.</a:t>
            </a:r>
            <a:endParaRPr lang="en-US" sz="1600" dirty="0"/>
          </a:p>
        </p:txBody>
      </p:sp>
      <p:sp>
        <p:nvSpPr>
          <p:cNvPr id="6" name="Text 0"/>
          <p:cNvSpPr/>
          <p:nvPr>
            <p:ph idx="103" hasCustomPrompt="1"/>
          </p:nvPr>
        </p:nvSpPr>
        <p:spPr>
          <a:xfrm>
            <a:off x="0" y="0"/>
            <a:ext cx="6096000" cy="6858000"/>
          </a:xfrm>
          <a:prstGeom prst="rect">
            <a:avLst/>
          </a:prstGeom>
          <a:noFill/>
          <a:ln/>
        </p:spPr>
        <p:txBody>
          <a:bodyPr wrap="square" rtlCol="0"/>
          <a:lstStyle/>
          <a:p>
            <a:pPr indent="0" marL="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09600" y="1981200"/>
            <a:ext cx="2072640" cy="12700"/>
          </a:xfrm>
          <a:prstGeom prst="rect">
            <a:avLst/>
          </a:prstGeom>
          <a:solidFill>
            <a:srgbClr val="E6E2EC"/>
          </a:solidFill>
          <a:ln/>
        </p:spPr>
      </p:sp>
      <p:sp>
        <p:nvSpPr>
          <p:cNvPr id="3" name="Text 1"/>
          <p:cNvSpPr txBox="1"/>
          <p:nvPr/>
        </p:nvSpPr>
        <p:spPr>
          <a:xfrm>
            <a:off x="609600" y="2133600"/>
            <a:ext cx="207264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Decide to buy</a:t>
            </a:r>
            <a:endParaRPr lang="en-US" sz="1600" dirty="0"/>
          </a:p>
        </p:txBody>
      </p:sp>
      <p:sp>
        <p:nvSpPr>
          <p:cNvPr id="4" name="Shape 2"/>
          <p:cNvSpPr/>
          <p:nvPr/>
        </p:nvSpPr>
        <p:spPr>
          <a:xfrm>
            <a:off x="2834640" y="1981200"/>
            <a:ext cx="2072640" cy="12700"/>
          </a:xfrm>
          <a:prstGeom prst="rect">
            <a:avLst/>
          </a:prstGeom>
          <a:solidFill>
            <a:srgbClr val="E6E2EC"/>
          </a:solidFill>
          <a:ln/>
        </p:spPr>
      </p:sp>
      <p:sp>
        <p:nvSpPr>
          <p:cNvPr id="5" name="Text 3"/>
          <p:cNvSpPr txBox="1"/>
          <p:nvPr/>
        </p:nvSpPr>
        <p:spPr>
          <a:xfrm>
            <a:off x="2834640" y="2133600"/>
            <a:ext cx="207264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Find suppliers</a:t>
            </a:r>
            <a:endParaRPr lang="en-US" sz="1600" dirty="0"/>
          </a:p>
        </p:txBody>
      </p:sp>
      <p:sp>
        <p:nvSpPr>
          <p:cNvPr id="6" name="Shape 4"/>
          <p:cNvSpPr/>
          <p:nvPr/>
        </p:nvSpPr>
        <p:spPr>
          <a:xfrm>
            <a:off x="5059680" y="1981200"/>
            <a:ext cx="2072640" cy="12700"/>
          </a:xfrm>
          <a:prstGeom prst="rect">
            <a:avLst/>
          </a:prstGeom>
          <a:solidFill>
            <a:srgbClr val="E6E2EC"/>
          </a:solidFill>
          <a:ln/>
        </p:spPr>
      </p:sp>
      <p:sp>
        <p:nvSpPr>
          <p:cNvPr id="7" name="Text 5"/>
          <p:cNvSpPr txBox="1"/>
          <p:nvPr/>
        </p:nvSpPr>
        <p:spPr>
          <a:xfrm>
            <a:off x="5059680" y="2133600"/>
            <a:ext cx="207264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Compare quotes</a:t>
            </a:r>
            <a:endParaRPr lang="en-US" sz="1600" dirty="0"/>
          </a:p>
        </p:txBody>
      </p:sp>
      <p:sp>
        <p:nvSpPr>
          <p:cNvPr id="8" name="Shape 6"/>
          <p:cNvSpPr/>
          <p:nvPr/>
        </p:nvSpPr>
        <p:spPr>
          <a:xfrm>
            <a:off x="7284720" y="1981200"/>
            <a:ext cx="2072640" cy="12700"/>
          </a:xfrm>
          <a:prstGeom prst="rect">
            <a:avLst/>
          </a:prstGeom>
          <a:solidFill>
            <a:srgbClr val="E6E2EC"/>
          </a:solidFill>
          <a:ln/>
        </p:spPr>
      </p:sp>
      <p:sp>
        <p:nvSpPr>
          <p:cNvPr id="9" name="Text 7"/>
          <p:cNvSpPr txBox="1"/>
          <p:nvPr/>
        </p:nvSpPr>
        <p:spPr>
          <a:xfrm>
            <a:off x="7284720" y="2133600"/>
            <a:ext cx="207264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Negotiate</a:t>
            </a:r>
            <a:endParaRPr lang="en-US" sz="1600" dirty="0"/>
          </a:p>
        </p:txBody>
      </p:sp>
      <p:sp>
        <p:nvSpPr>
          <p:cNvPr id="10" name="Shape 8"/>
          <p:cNvSpPr/>
          <p:nvPr/>
        </p:nvSpPr>
        <p:spPr>
          <a:xfrm>
            <a:off x="9509760" y="1981200"/>
            <a:ext cx="2072640" cy="12700"/>
          </a:xfrm>
          <a:prstGeom prst="rect">
            <a:avLst/>
          </a:prstGeom>
          <a:solidFill>
            <a:srgbClr val="E6E2EC"/>
          </a:solidFill>
          <a:ln/>
        </p:spPr>
      </p:sp>
      <p:sp>
        <p:nvSpPr>
          <p:cNvPr id="11" name="Text 9"/>
          <p:cNvSpPr txBox="1"/>
          <p:nvPr/>
        </p:nvSpPr>
        <p:spPr>
          <a:xfrm>
            <a:off x="9509760" y="2133600"/>
            <a:ext cx="207264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Sign and connect</a:t>
            </a:r>
            <a:endParaRPr lang="en-US" sz="1600" dirty="0"/>
          </a:p>
        </p:txBody>
      </p:sp>
      <p:sp>
        <p:nvSpPr>
          <p:cNvPr id="12" name="Text 10"/>
          <p:cNvSpPr txBox="1"/>
          <p:nvPr/>
        </p:nvSpPr>
        <p:spPr>
          <a:xfrm>
            <a:off x="609600" y="3098800"/>
            <a:ext cx="3556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Typical: 12 to 15 months</a:t>
            </a:r>
            <a:endParaRPr lang="en-US" sz="1600" dirty="0"/>
          </a:p>
        </p:txBody>
      </p:sp>
      <p:sp>
        <p:nvSpPr>
          <p:cNvPr id="13" name="Shape 11"/>
          <p:cNvSpPr/>
          <p:nvPr/>
        </p:nvSpPr>
        <p:spPr>
          <a:xfrm>
            <a:off x="609600" y="3454400"/>
            <a:ext cx="10972800" cy="355600"/>
          </a:xfrm>
          <a:prstGeom prst="rect">
            <a:avLst/>
          </a:prstGeom>
          <a:solidFill>
            <a:srgbClr val="9C95A8"/>
          </a:solidFill>
          <a:ln/>
        </p:spPr>
      </p:sp>
      <p:sp>
        <p:nvSpPr>
          <p:cNvPr id="14" name="Text 12"/>
          <p:cNvSpPr txBox="1"/>
          <p:nvPr/>
        </p:nvSpPr>
        <p:spPr>
          <a:xfrm>
            <a:off x="609600" y="4216400"/>
            <a:ext cx="3556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7E22FF"/>
                </a:solidFill>
                <a:latin typeface="Arial" pitchFamily="34" charset="0"/>
                <a:ea typeface="Arial" pitchFamily="34" charset="-122"/>
                <a:cs typeface="Arial" pitchFamily="34" charset="-120"/>
              </a:rPr>
              <a:t>With Neufin: about 3 months</a:t>
            </a:r>
            <a:endParaRPr lang="en-US" sz="1600" dirty="0"/>
          </a:p>
        </p:txBody>
      </p:sp>
      <p:sp>
        <p:nvSpPr>
          <p:cNvPr id="15" name="Shape 13"/>
          <p:cNvSpPr/>
          <p:nvPr/>
        </p:nvSpPr>
        <p:spPr>
          <a:xfrm>
            <a:off x="609600" y="4572000"/>
            <a:ext cx="2438400" cy="355600"/>
          </a:xfrm>
          <a:prstGeom prst="rect">
            <a:avLst/>
          </a:prstGeom>
          <a:solidFill>
            <a:srgbClr val="7E22FF"/>
          </a:solidFill>
          <a:ln/>
        </p:spPr>
      </p:sp>
      <p:sp>
        <p:nvSpPr>
          <p:cNvPr id="16" name="Text 14"/>
          <p:cNvSpPr txBox="1"/>
          <p:nvPr/>
        </p:nvSpPr>
        <p:spPr>
          <a:xfrm>
            <a:off x="609600" y="5181600"/>
            <a:ext cx="81915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Contracts are pre-negotiated with our suppliers, so you choose terms instead of chasing quotes.</a:t>
            </a:r>
            <a:endParaRPr lang="en-US" sz="1600" dirty="0"/>
          </a:p>
        </p:txBody>
      </p:sp>
      <p:sp>
        <p:nvSpPr>
          <p:cNvPr id="17"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Renewable power in three months, not a year</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09600" y="1828800"/>
            <a:ext cx="2628900" cy="25400"/>
          </a:xfrm>
          <a:prstGeom prst="rect">
            <a:avLst/>
          </a:prstGeom>
          <a:solidFill>
            <a:srgbClr val="7E22FF"/>
          </a:solidFill>
          <a:ln/>
        </p:spPr>
      </p:sp>
      <p:sp>
        <p:nvSpPr>
          <p:cNvPr id="3" name="Text 1"/>
          <p:cNvSpPr txBox="1"/>
          <p:nvPr/>
        </p:nvSpPr>
        <p:spPr>
          <a:xfrm>
            <a:off x="609600" y="2082800"/>
            <a:ext cx="26289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01</a:t>
            </a:r>
            <a:endParaRPr lang="en-US" sz="1600" dirty="0"/>
          </a:p>
        </p:txBody>
      </p:sp>
      <p:sp>
        <p:nvSpPr>
          <p:cNvPr id="4" name="Text 2"/>
          <p:cNvSpPr txBox="1"/>
          <p:nvPr/>
        </p:nvSpPr>
        <p:spPr>
          <a:xfrm>
            <a:off x="609600" y="2489200"/>
            <a:ext cx="26289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Design</a:t>
            </a:r>
            <a:endParaRPr lang="en-US" sz="2800" dirty="0"/>
          </a:p>
        </p:txBody>
      </p:sp>
      <p:sp>
        <p:nvSpPr>
          <p:cNvPr id="5" name="Text 3"/>
          <p:cNvSpPr txBox="1"/>
          <p:nvPr/>
        </p:nvSpPr>
        <p:spPr>
          <a:xfrm>
            <a:off x="609600" y="3098800"/>
            <a:ext cx="2527300" cy="13970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We model your sites and the right mix of sources, in a day.</a:t>
            </a:r>
            <a:endParaRPr lang="en-US" sz="1600" dirty="0"/>
          </a:p>
        </p:txBody>
      </p:sp>
      <p:sp>
        <p:nvSpPr>
          <p:cNvPr id="6" name="Shape 4"/>
          <p:cNvSpPr/>
          <p:nvPr/>
        </p:nvSpPr>
        <p:spPr>
          <a:xfrm>
            <a:off x="3390900" y="1828800"/>
            <a:ext cx="2628900" cy="25400"/>
          </a:xfrm>
          <a:prstGeom prst="rect">
            <a:avLst/>
          </a:prstGeom>
          <a:solidFill>
            <a:srgbClr val="E6E2EC"/>
          </a:solidFill>
          <a:ln/>
        </p:spPr>
      </p:sp>
      <p:sp>
        <p:nvSpPr>
          <p:cNvPr id="7" name="Text 5"/>
          <p:cNvSpPr txBox="1"/>
          <p:nvPr/>
        </p:nvSpPr>
        <p:spPr>
          <a:xfrm>
            <a:off x="3390900" y="2082800"/>
            <a:ext cx="26289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02</a:t>
            </a:r>
            <a:endParaRPr lang="en-US" sz="1600" dirty="0"/>
          </a:p>
        </p:txBody>
      </p:sp>
      <p:sp>
        <p:nvSpPr>
          <p:cNvPr id="8" name="Text 6"/>
          <p:cNvSpPr txBox="1"/>
          <p:nvPr/>
        </p:nvSpPr>
        <p:spPr>
          <a:xfrm>
            <a:off x="3390900" y="2489200"/>
            <a:ext cx="26289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Discover</a:t>
            </a:r>
            <a:endParaRPr lang="en-US" sz="2800" dirty="0"/>
          </a:p>
        </p:txBody>
      </p:sp>
      <p:sp>
        <p:nvSpPr>
          <p:cNvPr id="9" name="Text 7"/>
          <p:cNvSpPr txBox="1"/>
          <p:nvPr/>
        </p:nvSpPr>
        <p:spPr>
          <a:xfrm>
            <a:off x="3390900" y="3098800"/>
            <a:ext cx="2527300" cy="13970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Choose from 100+ pre-negotiated contracts with 30+ suppliers.</a:t>
            </a:r>
            <a:endParaRPr lang="en-US" sz="1600" dirty="0"/>
          </a:p>
        </p:txBody>
      </p:sp>
      <p:sp>
        <p:nvSpPr>
          <p:cNvPr id="10" name="Shape 8"/>
          <p:cNvSpPr/>
          <p:nvPr/>
        </p:nvSpPr>
        <p:spPr>
          <a:xfrm>
            <a:off x="6172200" y="1828800"/>
            <a:ext cx="2628900" cy="25400"/>
          </a:xfrm>
          <a:prstGeom prst="rect">
            <a:avLst/>
          </a:prstGeom>
          <a:solidFill>
            <a:srgbClr val="E6E2EC"/>
          </a:solidFill>
          <a:ln/>
        </p:spPr>
      </p:sp>
      <p:sp>
        <p:nvSpPr>
          <p:cNvPr id="11" name="Text 9"/>
          <p:cNvSpPr txBox="1"/>
          <p:nvPr/>
        </p:nvSpPr>
        <p:spPr>
          <a:xfrm>
            <a:off x="6172200" y="2082800"/>
            <a:ext cx="26289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03</a:t>
            </a:r>
            <a:endParaRPr lang="en-US" sz="1600" dirty="0"/>
          </a:p>
        </p:txBody>
      </p:sp>
      <p:sp>
        <p:nvSpPr>
          <p:cNvPr id="12" name="Text 10"/>
          <p:cNvSpPr txBox="1"/>
          <p:nvPr/>
        </p:nvSpPr>
        <p:spPr>
          <a:xfrm>
            <a:off x="6172200" y="2489200"/>
            <a:ext cx="26289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Deliver</a:t>
            </a:r>
            <a:endParaRPr lang="en-US" sz="2800" dirty="0"/>
          </a:p>
        </p:txBody>
      </p:sp>
      <p:sp>
        <p:nvSpPr>
          <p:cNvPr id="13" name="Text 11"/>
          <p:cNvSpPr txBox="1"/>
          <p:nvPr/>
        </p:nvSpPr>
        <p:spPr>
          <a:xfrm>
            <a:off x="6172200" y="3098800"/>
            <a:ext cx="2527300" cy="13970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We handle the agreement, metering and DISCOM approvals.</a:t>
            </a:r>
            <a:endParaRPr lang="en-US" sz="1600" dirty="0"/>
          </a:p>
        </p:txBody>
      </p:sp>
      <p:sp>
        <p:nvSpPr>
          <p:cNvPr id="14" name="Shape 12"/>
          <p:cNvSpPr/>
          <p:nvPr/>
        </p:nvSpPr>
        <p:spPr>
          <a:xfrm>
            <a:off x="8953500" y="1828800"/>
            <a:ext cx="2628900" cy="25400"/>
          </a:xfrm>
          <a:prstGeom prst="rect">
            <a:avLst/>
          </a:prstGeom>
          <a:solidFill>
            <a:srgbClr val="E6E2EC"/>
          </a:solidFill>
          <a:ln/>
        </p:spPr>
      </p:sp>
      <p:sp>
        <p:nvSpPr>
          <p:cNvPr id="15" name="Text 13"/>
          <p:cNvSpPr txBox="1"/>
          <p:nvPr/>
        </p:nvSpPr>
        <p:spPr>
          <a:xfrm>
            <a:off x="8953500" y="2082800"/>
            <a:ext cx="2628900" cy="304800"/>
          </a:xfrm>
          <a:prstGeom prst="rect">
            <a:avLst/>
          </a:prstGeom>
          <a:noFill/>
          <a:ln/>
        </p:spPr>
        <p:txBody>
          <a:bodyPr wrap="square" lIns="0" tIns="0" rIns="0" bIns="0" rtlCol="0" anchor="t"/>
          <a:lstStyle/>
          <a:p>
            <a:pPr algn="l" indent="0" marL="0">
              <a:lnSpc>
                <a:spcPct val="135000"/>
              </a:lnSpc>
              <a:buNone/>
            </a:pPr>
            <a:r>
              <a:rPr lang="en-US" sz="1600" dirty="0">
                <a:solidFill>
                  <a:srgbClr val="7E22FF"/>
                </a:solidFill>
                <a:latin typeface="Arial" pitchFamily="34" charset="0"/>
                <a:ea typeface="Arial" pitchFamily="34" charset="-122"/>
                <a:cs typeface="Arial" pitchFamily="34" charset="-120"/>
              </a:rPr>
              <a:t>04</a:t>
            </a:r>
            <a:endParaRPr lang="en-US" sz="1600" dirty="0"/>
          </a:p>
        </p:txBody>
      </p:sp>
      <p:sp>
        <p:nvSpPr>
          <p:cNvPr id="16" name="Text 14"/>
          <p:cNvSpPr txBox="1"/>
          <p:nvPr/>
        </p:nvSpPr>
        <p:spPr>
          <a:xfrm>
            <a:off x="8953500" y="2489200"/>
            <a:ext cx="26289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Optimise</a:t>
            </a:r>
            <a:endParaRPr lang="en-US" sz="2800" dirty="0"/>
          </a:p>
        </p:txBody>
      </p:sp>
      <p:sp>
        <p:nvSpPr>
          <p:cNvPr id="17" name="Text 15"/>
          <p:cNvSpPr txBox="1"/>
          <p:nvPr/>
        </p:nvSpPr>
        <p:spPr>
          <a:xfrm>
            <a:off x="8953500" y="3098800"/>
            <a:ext cx="2527300" cy="13970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Lumen tracks every unit and keeps your cost per unit low.</a:t>
            </a:r>
            <a:endParaRPr lang="en-US" sz="1600" dirty="0"/>
          </a:p>
        </p:txBody>
      </p:sp>
      <p:sp>
        <p:nvSpPr>
          <p:cNvPr id="18"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We handle it end to end</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09600" y="1828800"/>
          <a:ext cx="10972800" cy="914400"/>
        </p:xfrm>
        <a:graphic>
          <a:graphicData uri="http://schemas.openxmlformats.org/drawingml/2006/table">
            <a:tbl>
              <a:tblPr/>
              <a:tblGrid>
                <a:gridCol w="2794000"/>
                <a:gridCol w="4089400"/>
                <a:gridCol w="4089400"/>
              </a:tblGrid>
              <a:tr h="0">
                <a:tc>
                  <a:txBody>
                    <a:bodyPr/>
                    <a:lstStyle/>
                    <a:p>
                      <a:pPr algn="l" indent="0" marL="0">
                        <a:lnSpc>
                          <a:spcPct val="135000"/>
                        </a:lnSpc>
                        <a:buNone/>
                      </a:pP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b="1" dirty="0">
                          <a:solidFill>
                            <a:srgbClr val="5F5A68"/>
                          </a:solidFill>
                          <a:latin typeface="Arial" pitchFamily="34" charset="0"/>
                          <a:ea typeface="Arial" pitchFamily="34" charset="-122"/>
                          <a:cs typeface="Arial" pitchFamily="34" charset="-120"/>
                        </a:rPr>
                        <a:t>Typical market</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b="1" dirty="0">
                          <a:solidFill>
                            <a:srgbClr val="5F5A68"/>
                          </a:solidFill>
                          <a:latin typeface="Arial" pitchFamily="34" charset="0"/>
                          <a:ea typeface="Arial" pitchFamily="34" charset="-122"/>
                          <a:cs typeface="Arial" pitchFamily="34" charset="-120"/>
                        </a:rPr>
                        <a:t>Neufin</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solidFill>
                      <a:srgbClr val="F0E6FF"/>
                    </a:solidFill>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Price</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Changes by supplier</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Pre-negotiated, bulk pricing</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solidFill>
                      <a:srgbClr val="F0E6FF"/>
                    </a:solidFill>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Contract length</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3 to 15 years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Spot, 3 months, 1 to 15 years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solidFill>
                      <a:srgbClr val="F0E6FF"/>
                    </a:solidFill>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Time to sign</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6 to 9 months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About 3 months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solidFill>
                      <a:srgbClr val="F0E6FF"/>
                    </a:solidFill>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Smallest size</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1.5 MWp</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0.5 MWp</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solidFill>
                      <a:srgbClr val="F0E6FF"/>
                    </a:solidFill>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Terms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Different for each supplier</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Shared before you start</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0E6FF"/>
                    </a:solidFill>
                  </a:tcPr>
                </a:tc>
              </a:tr>
            </a:tbl>
          </a:graphicData>
        </a:graphic>
      </p:graphicFrame>
      <p:sp>
        <p:nvSpPr>
          <p:cNvPr id="3"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Ready-to-sign contracts instead of months of quotes</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09600" y="1828800"/>
            <a:ext cx="5410200" cy="3810000"/>
          </a:xfrm>
          <a:prstGeom prst="rect">
            <a:avLst/>
          </a:prstGeom>
          <a:solidFill>
            <a:srgbClr val="F7F5FA"/>
          </a:solidFill>
          <a:ln/>
        </p:spPr>
      </p:sp>
      <p:sp>
        <p:nvSpPr>
          <p:cNvPr id="3" name="Text 1"/>
          <p:cNvSpPr txBox="1"/>
          <p:nvPr/>
        </p:nvSpPr>
        <p:spPr>
          <a:xfrm>
            <a:off x="914400" y="2133600"/>
            <a:ext cx="48006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Energy Networks</a:t>
            </a:r>
            <a:endParaRPr lang="en-US" sz="2800" dirty="0"/>
          </a:p>
        </p:txBody>
      </p:sp>
      <p:sp>
        <p:nvSpPr>
          <p:cNvPr id="4" name="Text 2"/>
          <p:cNvSpPr txBox="1"/>
          <p:nvPr/>
        </p:nvSpPr>
        <p:spPr>
          <a:xfrm>
            <a:off x="914400" y="2692400"/>
            <a:ext cx="4800600" cy="6096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We buy renewable power for you, from design to supply.</a:t>
            </a:r>
            <a:endParaRPr lang="en-US" sz="1600" dirty="0"/>
          </a:p>
        </p:txBody>
      </p:sp>
      <p:sp>
        <p:nvSpPr>
          <p:cNvPr id="5" name="Shape 3"/>
          <p:cNvSpPr/>
          <p:nvPr/>
        </p:nvSpPr>
        <p:spPr>
          <a:xfrm>
            <a:off x="914400" y="3835400"/>
            <a:ext cx="76200" cy="76200"/>
          </a:xfrm>
          <a:prstGeom prst="rect">
            <a:avLst/>
          </a:prstGeom>
          <a:solidFill>
            <a:srgbClr val="7E22FF"/>
          </a:solidFill>
          <a:ln/>
        </p:spPr>
      </p:sp>
      <p:sp>
        <p:nvSpPr>
          <p:cNvPr id="6" name="Text 4"/>
          <p:cNvSpPr txBox="1"/>
          <p:nvPr/>
        </p:nvSpPr>
        <p:spPr>
          <a:xfrm>
            <a:off x="1143000" y="3733800"/>
            <a:ext cx="4572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Open access: group captive and third party</a:t>
            </a:r>
            <a:endParaRPr lang="en-US" sz="1600" dirty="0"/>
          </a:p>
        </p:txBody>
      </p:sp>
      <p:sp>
        <p:nvSpPr>
          <p:cNvPr id="7" name="Shape 5"/>
          <p:cNvSpPr/>
          <p:nvPr/>
        </p:nvSpPr>
        <p:spPr>
          <a:xfrm>
            <a:off x="914400" y="4292600"/>
            <a:ext cx="76200" cy="76200"/>
          </a:xfrm>
          <a:prstGeom prst="rect">
            <a:avLst/>
          </a:prstGeom>
          <a:solidFill>
            <a:srgbClr val="7E22FF"/>
          </a:solidFill>
          <a:ln/>
        </p:spPr>
      </p:sp>
      <p:sp>
        <p:nvSpPr>
          <p:cNvPr id="8" name="Text 6"/>
          <p:cNvSpPr txBox="1"/>
          <p:nvPr/>
        </p:nvSpPr>
        <p:spPr>
          <a:xfrm>
            <a:off x="1143000" y="4191000"/>
            <a:ext cx="4572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Rooftop and ground-mounted solar</a:t>
            </a:r>
            <a:endParaRPr lang="en-US" sz="1600" dirty="0"/>
          </a:p>
        </p:txBody>
      </p:sp>
      <p:sp>
        <p:nvSpPr>
          <p:cNvPr id="9" name="Shape 7"/>
          <p:cNvSpPr/>
          <p:nvPr/>
        </p:nvSpPr>
        <p:spPr>
          <a:xfrm>
            <a:off x="914400" y="4749800"/>
            <a:ext cx="76200" cy="76200"/>
          </a:xfrm>
          <a:prstGeom prst="rect">
            <a:avLst/>
          </a:prstGeom>
          <a:solidFill>
            <a:srgbClr val="7E22FF"/>
          </a:solidFill>
          <a:ln/>
        </p:spPr>
      </p:sp>
      <p:sp>
        <p:nvSpPr>
          <p:cNvPr id="10" name="Text 8"/>
          <p:cNvSpPr txBox="1"/>
          <p:nvPr/>
        </p:nvSpPr>
        <p:spPr>
          <a:xfrm>
            <a:off x="1143000" y="4648200"/>
            <a:ext cx="4572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Exchange power and storage</a:t>
            </a:r>
            <a:endParaRPr lang="en-US" sz="1600" dirty="0"/>
          </a:p>
        </p:txBody>
      </p:sp>
      <p:sp>
        <p:nvSpPr>
          <p:cNvPr id="11" name="Shape 9"/>
          <p:cNvSpPr/>
          <p:nvPr/>
        </p:nvSpPr>
        <p:spPr>
          <a:xfrm>
            <a:off x="6172200" y="1828800"/>
            <a:ext cx="5410200" cy="3810000"/>
          </a:xfrm>
          <a:prstGeom prst="rect">
            <a:avLst/>
          </a:prstGeom>
          <a:solidFill>
            <a:srgbClr val="F7F5FA"/>
          </a:solidFill>
          <a:ln/>
        </p:spPr>
      </p:sp>
      <p:sp>
        <p:nvSpPr>
          <p:cNvPr id="12" name="Text 10"/>
          <p:cNvSpPr txBox="1"/>
          <p:nvPr/>
        </p:nvSpPr>
        <p:spPr>
          <a:xfrm>
            <a:off x="6477000" y="2133600"/>
            <a:ext cx="48006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Advisory</a:t>
            </a:r>
            <a:endParaRPr lang="en-US" sz="2800" dirty="0"/>
          </a:p>
        </p:txBody>
      </p:sp>
      <p:sp>
        <p:nvSpPr>
          <p:cNvPr id="13" name="Text 11"/>
          <p:cNvSpPr txBox="1"/>
          <p:nvPr/>
        </p:nvSpPr>
        <p:spPr>
          <a:xfrm>
            <a:off x="6477000" y="2692400"/>
            <a:ext cx="4800600" cy="6096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We plan your energy transition and report on it.</a:t>
            </a:r>
            <a:endParaRPr lang="en-US" sz="1600" dirty="0"/>
          </a:p>
        </p:txBody>
      </p:sp>
      <p:sp>
        <p:nvSpPr>
          <p:cNvPr id="14" name="Shape 12"/>
          <p:cNvSpPr/>
          <p:nvPr/>
        </p:nvSpPr>
        <p:spPr>
          <a:xfrm>
            <a:off x="6477000" y="3835400"/>
            <a:ext cx="76200" cy="76200"/>
          </a:xfrm>
          <a:prstGeom prst="rect">
            <a:avLst/>
          </a:prstGeom>
          <a:solidFill>
            <a:srgbClr val="7E22FF"/>
          </a:solidFill>
          <a:ln/>
        </p:spPr>
      </p:sp>
      <p:sp>
        <p:nvSpPr>
          <p:cNvPr id="15" name="Text 13"/>
          <p:cNvSpPr txBox="1"/>
          <p:nvPr/>
        </p:nvSpPr>
        <p:spPr>
          <a:xfrm>
            <a:off x="6705600" y="3733800"/>
            <a:ext cx="4572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Techno-commercial and regulatory advice</a:t>
            </a:r>
            <a:endParaRPr lang="en-US" sz="1600" dirty="0"/>
          </a:p>
        </p:txBody>
      </p:sp>
      <p:sp>
        <p:nvSpPr>
          <p:cNvPr id="16" name="Shape 14"/>
          <p:cNvSpPr/>
          <p:nvPr/>
        </p:nvSpPr>
        <p:spPr>
          <a:xfrm>
            <a:off x="6477000" y="4292600"/>
            <a:ext cx="76200" cy="76200"/>
          </a:xfrm>
          <a:prstGeom prst="rect">
            <a:avLst/>
          </a:prstGeom>
          <a:solidFill>
            <a:srgbClr val="7E22FF"/>
          </a:solidFill>
          <a:ln/>
        </p:spPr>
      </p:sp>
      <p:sp>
        <p:nvSpPr>
          <p:cNvPr id="17" name="Text 15"/>
          <p:cNvSpPr txBox="1"/>
          <p:nvPr/>
        </p:nvSpPr>
        <p:spPr>
          <a:xfrm>
            <a:off x="6705600" y="4191000"/>
            <a:ext cx="4572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Supplier and asset due diligence</a:t>
            </a:r>
            <a:endParaRPr lang="en-US" sz="1600" dirty="0"/>
          </a:p>
        </p:txBody>
      </p:sp>
      <p:sp>
        <p:nvSpPr>
          <p:cNvPr id="18" name="Shape 16"/>
          <p:cNvSpPr/>
          <p:nvPr/>
        </p:nvSpPr>
        <p:spPr>
          <a:xfrm>
            <a:off x="6477000" y="4749800"/>
            <a:ext cx="76200" cy="76200"/>
          </a:xfrm>
          <a:prstGeom prst="rect">
            <a:avLst/>
          </a:prstGeom>
          <a:solidFill>
            <a:srgbClr val="7E22FF"/>
          </a:solidFill>
          <a:ln/>
        </p:spPr>
      </p:sp>
      <p:sp>
        <p:nvSpPr>
          <p:cNvPr id="19" name="Text 17"/>
          <p:cNvSpPr txBox="1"/>
          <p:nvPr/>
        </p:nvSpPr>
        <p:spPr>
          <a:xfrm>
            <a:off x="6705600" y="4648200"/>
            <a:ext cx="4572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Moving your suppliers to renewables</a:t>
            </a:r>
            <a:endParaRPr lang="en-US" sz="1600" dirty="0"/>
          </a:p>
        </p:txBody>
      </p:sp>
      <p:sp>
        <p:nvSpPr>
          <p:cNvPr id="20"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Two ways to work with us</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09600" y="1828800"/>
            <a:ext cx="3556000" cy="762000"/>
          </a:xfrm>
          <a:prstGeom prst="rect">
            <a:avLst/>
          </a:prstGeom>
          <a:noFill/>
          <a:ln/>
        </p:spPr>
        <p:txBody>
          <a:bodyPr wrap="square" lIns="0" tIns="0" rIns="0" bIns="0" rtlCol="0" anchor="t"/>
          <a:lstStyle/>
          <a:p>
            <a:pPr algn="l" indent="0" marL="0">
              <a:lnSpc>
                <a:spcPct val="105000"/>
              </a:lnSpc>
              <a:buNone/>
            </a:pPr>
            <a:r>
              <a:rPr lang="en-US" sz="4800" b="1" dirty="0">
                <a:solidFill>
                  <a:srgbClr val="7E22FF"/>
                </a:solidFill>
                <a:latin typeface="Arial" pitchFamily="34" charset="0"/>
                <a:ea typeface="Arial" pitchFamily="34" charset="-122"/>
                <a:cs typeface="Arial" pitchFamily="34" charset="-120"/>
              </a:rPr>
              <a:t>₹42 Cr</a:t>
            </a:r>
            <a:endParaRPr lang="en-US" sz="4800" dirty="0"/>
          </a:p>
        </p:txBody>
      </p:sp>
      <p:sp>
        <p:nvSpPr>
          <p:cNvPr id="3" name="Text 1"/>
          <p:cNvSpPr txBox="1"/>
          <p:nvPr/>
        </p:nvSpPr>
        <p:spPr>
          <a:xfrm>
            <a:off x="609600" y="2641600"/>
            <a:ext cx="26289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A year, across 18 sites in 6 states</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318000" y="1828800"/>
          <a:ext cx="7264400" cy="914400"/>
        </p:xfrm>
        <a:graphic>
          <a:graphicData uri="http://schemas.openxmlformats.org/drawingml/2006/table">
            <a:tbl>
              <a:tblPr/>
              <a:tblGrid>
                <a:gridCol w="1905000"/>
                <a:gridCol w="1016000"/>
                <a:gridCol w="1397000"/>
                <a:gridCol w="1524000"/>
                <a:gridCol w="1422400"/>
              </a:tblGrid>
              <a:tr h="0">
                <a:tc>
                  <a:txBody>
                    <a:bodyPr/>
                    <a:lstStyle/>
                    <a:p>
                      <a:pPr algn="l" indent="0" marL="0">
                        <a:lnSpc>
                          <a:spcPct val="140000"/>
                        </a:lnSpc>
                        <a:buNone/>
                      </a:pPr>
                      <a:r>
                        <a:rPr lang="en-US" sz="1200" b="1" dirty="0">
                          <a:solidFill>
                            <a:srgbClr val="5F5A68"/>
                          </a:solidFill>
                          <a:latin typeface="Arial" pitchFamily="34" charset="0"/>
                          <a:ea typeface="Arial" pitchFamily="34" charset="-122"/>
                          <a:cs typeface="Arial" pitchFamily="34" charset="-120"/>
                        </a:rPr>
                        <a:t>State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5F5A68"/>
                          </a:solidFill>
                          <a:latin typeface="Arial" pitchFamily="34" charset="0"/>
                          <a:ea typeface="Arial" pitchFamily="34" charset="-122"/>
                          <a:cs typeface="Arial" pitchFamily="34" charset="-120"/>
                        </a:rPr>
                        <a:t>Sites</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5F5A68"/>
                          </a:solidFill>
                          <a:latin typeface="Arial" pitchFamily="34" charset="0"/>
                          <a:ea typeface="Arial" pitchFamily="34" charset="-122"/>
                          <a:cs typeface="Arial" pitchFamily="34" charset="-120"/>
                        </a:rPr>
                        <a:t>Demand</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5F5A68"/>
                          </a:solidFill>
                          <a:latin typeface="Arial" pitchFamily="34" charset="0"/>
                          <a:ea typeface="Arial" pitchFamily="34" charset="-122"/>
                          <a:cs typeface="Arial" pitchFamily="34" charset="-120"/>
                        </a:rPr>
                        <a:t>Units a month</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5F5A68"/>
                          </a:solidFill>
                          <a:latin typeface="Arial" pitchFamily="34" charset="0"/>
                          <a:ea typeface="Arial" pitchFamily="34" charset="-122"/>
                          <a:cs typeface="Arial" pitchFamily="34" charset="-120"/>
                        </a:rPr>
                        <a:t>₹ per kWh</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Maharashtra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7.6 MVA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12.0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8.4–18.9</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Tamil Nadu</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3.9 MVA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5.2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8.6–15.8</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Gujarat</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2.4 MW</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3.8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10.2</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Karnataka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1.8 MVA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2.6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9.1</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Others</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3.2 MVA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4.9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6.1–11.0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r>
            </a:tbl>
          </a:graphicData>
        </a:graphic>
      </p:graphicFrame>
      <p:sp>
        <p:nvSpPr>
          <p:cNvPr id="5"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You spend ₹42 Cr a year on power across 18 sites</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Neufin Strip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txBox="1"/>
          <p:nvPr/>
        </p:nvSpPr>
        <p:spPr>
          <a:xfrm>
            <a:off x="609600" y="1879600"/>
            <a:ext cx="5410200" cy="698500"/>
          </a:xfrm>
          <a:prstGeom prst="rect">
            <a:avLst/>
          </a:prstGeom>
          <a:noFill/>
          <a:ln/>
        </p:spPr>
        <p:txBody>
          <a:bodyPr wrap="square" lIns="0" tIns="0" rIns="0" bIns="0" rtlCol="0" anchor="t"/>
          <a:lstStyle/>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₹9.40</a:t>
            </a:r>
            <a:endParaRPr lang="en-US" sz="4800" dirty="0"/>
          </a:p>
        </p:txBody>
      </p:sp>
      <p:sp>
        <p:nvSpPr>
          <p:cNvPr id="4" name="Text 1"/>
          <p:cNvSpPr txBox="1"/>
          <p:nvPr/>
        </p:nvSpPr>
        <p:spPr>
          <a:xfrm>
            <a:off x="609600" y="3860800"/>
            <a:ext cx="5410200" cy="304800"/>
          </a:xfrm>
          <a:prstGeom prst="rect">
            <a:avLst/>
          </a:prstGeom>
          <a:noFill/>
          <a:ln/>
        </p:spPr>
        <p:txBody>
          <a:bodyPr wrap="square" lIns="0" tIns="0" rIns="0" bIns="0" rtlCol="0" anchor="t"/>
          <a:lstStyle/>
          <a:p>
            <a:pPr algn="l" indent="0" marL="0">
              <a:lnSpc>
                <a:spcPct val="135000"/>
              </a:lnSpc>
              <a:buNone/>
            </a:pPr>
            <a:r>
              <a:rPr lang="en-US" sz="1600" dirty="0">
                <a:solidFill>
                  <a:srgbClr val="FFFFFF"/>
                </a:solidFill>
                <a:latin typeface="Arial" pitchFamily="34" charset="0"/>
                <a:ea typeface="Arial" pitchFamily="34" charset="-122"/>
                <a:cs typeface="Arial" pitchFamily="34" charset="-120"/>
              </a:rPr>
              <a:t>Grid tariff today, per kWh</a:t>
            </a:r>
            <a:endParaRPr lang="en-US" sz="1600" dirty="0"/>
          </a:p>
        </p:txBody>
      </p:sp>
      <p:sp>
        <p:nvSpPr>
          <p:cNvPr id="5" name="Text 2"/>
          <p:cNvSpPr txBox="1"/>
          <p:nvPr/>
        </p:nvSpPr>
        <p:spPr>
          <a:xfrm>
            <a:off x="7099300" y="3594100"/>
            <a:ext cx="4483100" cy="698500"/>
          </a:xfrm>
          <a:prstGeom prst="rect">
            <a:avLst/>
          </a:prstGeom>
          <a:noFill/>
          <a:ln/>
        </p:spPr>
        <p:txBody>
          <a:bodyPr wrap="square" lIns="0" tIns="0" rIns="0" bIns="0" rtlCol="0" anchor="t"/>
          <a:lstStyle/>
          <a:p>
            <a:pPr algn="r" indent="0" marL="0">
              <a:lnSpc>
                <a:spcPct val="105000"/>
              </a:lnSpc>
              <a:buNone/>
            </a:pPr>
            <a:r>
              <a:rPr lang="en-US" sz="4800" b="1" dirty="0">
                <a:solidFill>
                  <a:srgbClr val="FFFFFF"/>
                </a:solidFill>
                <a:latin typeface="Arial" pitchFamily="34" charset="0"/>
                <a:ea typeface="Arial" pitchFamily="34" charset="-122"/>
                <a:cs typeface="Arial" pitchFamily="34" charset="-120"/>
              </a:rPr>
              <a:t>₹6.20</a:t>
            </a:r>
            <a:endParaRPr lang="en-US" sz="4800" dirty="0"/>
          </a:p>
        </p:txBody>
      </p:sp>
      <p:sp>
        <p:nvSpPr>
          <p:cNvPr id="6" name="Text 3"/>
          <p:cNvSpPr txBox="1"/>
          <p:nvPr/>
        </p:nvSpPr>
        <p:spPr>
          <a:xfrm>
            <a:off x="7099300" y="5511800"/>
            <a:ext cx="4483100" cy="304800"/>
          </a:xfrm>
          <a:prstGeom prst="rect">
            <a:avLst/>
          </a:prstGeom>
          <a:noFill/>
          <a:ln/>
        </p:spPr>
        <p:txBody>
          <a:bodyPr wrap="square" lIns="0" tIns="0" rIns="0" bIns="0" rtlCol="0" anchor="t"/>
          <a:lstStyle/>
          <a:p>
            <a:pPr algn="r" indent="0" marL="0">
              <a:lnSpc>
                <a:spcPct val="135000"/>
              </a:lnSpc>
              <a:buNone/>
            </a:pPr>
            <a:r>
              <a:rPr lang="en-US" sz="1600" dirty="0">
                <a:solidFill>
                  <a:srgbClr val="FFFFFF"/>
                </a:solidFill>
                <a:latin typeface="Arial" pitchFamily="34" charset="0"/>
                <a:ea typeface="Arial" pitchFamily="34" charset="-122"/>
                <a:cs typeface="Arial" pitchFamily="34" charset="-120"/>
              </a:rPr>
              <a:t>With Neufin, per kWh</a:t>
            </a:r>
            <a:endParaRPr lang="en-US" sz="1600" dirty="0"/>
          </a:p>
        </p:txBody>
      </p:sp>
      <p:sp>
        <p:nvSpPr>
          <p:cNvPr id="7"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FFFFFF"/>
                </a:solidFill>
                <a:latin typeface="Arial" pitchFamily="34" charset="0"/>
                <a:ea typeface="Arial" pitchFamily="34" charset="-122"/>
                <a:cs typeface="Arial" pitchFamily="34" charset="-120"/>
              </a:rPr>
              <a:t>Your cost per unit drops by a third</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026400" y="1651000"/>
            <a:ext cx="127000" cy="127000"/>
          </a:xfrm>
          <a:prstGeom prst="rect">
            <a:avLst/>
          </a:prstGeom>
          <a:solidFill>
            <a:srgbClr val="9C95A8"/>
          </a:solidFill>
          <a:ln/>
        </p:spPr>
      </p:sp>
      <p:sp>
        <p:nvSpPr>
          <p:cNvPr id="3" name="Text 1"/>
          <p:cNvSpPr txBox="1"/>
          <p:nvPr/>
        </p:nvSpPr>
        <p:spPr>
          <a:xfrm>
            <a:off x="8229600" y="1600200"/>
            <a:ext cx="1701800" cy="228600"/>
          </a:xfrm>
          <a:prstGeom prst="rect">
            <a:avLst/>
          </a:prstGeom>
          <a:noFill/>
          <a:ln/>
        </p:spPr>
        <p:txBody>
          <a:bodyPr wrap="square" lIns="0" tIns="0" rIns="0" bIns="0" rtlCol="0" anchor="t"/>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Grid tariff</a:t>
            </a:r>
            <a:endParaRPr lang="en-US" sz="1200" dirty="0"/>
          </a:p>
        </p:txBody>
      </p:sp>
      <p:sp>
        <p:nvSpPr>
          <p:cNvPr id="4" name="Shape 2"/>
          <p:cNvSpPr/>
          <p:nvPr/>
        </p:nvSpPr>
        <p:spPr>
          <a:xfrm>
            <a:off x="9880600" y="1651000"/>
            <a:ext cx="127000" cy="127000"/>
          </a:xfrm>
          <a:prstGeom prst="rect">
            <a:avLst/>
          </a:prstGeom>
          <a:solidFill>
            <a:srgbClr val="7E22FF"/>
          </a:solidFill>
          <a:ln/>
        </p:spPr>
      </p:sp>
      <p:sp>
        <p:nvSpPr>
          <p:cNvPr id="5" name="Text 3"/>
          <p:cNvSpPr txBox="1"/>
          <p:nvPr/>
        </p:nvSpPr>
        <p:spPr>
          <a:xfrm>
            <a:off x="10083800" y="1600200"/>
            <a:ext cx="1701800" cy="228600"/>
          </a:xfrm>
          <a:prstGeom prst="rect">
            <a:avLst/>
          </a:prstGeom>
          <a:noFill/>
          <a:ln/>
        </p:spPr>
        <p:txBody>
          <a:bodyPr wrap="square" lIns="0" tIns="0" rIns="0" bIns="0" rtlCol="0" anchor="t"/>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With Neufin</a:t>
            </a:r>
            <a:endParaRPr lang="en-US" sz="1200" dirty="0"/>
          </a:p>
        </p:txBody>
      </p:sp>
      <p:sp>
        <p:nvSpPr>
          <p:cNvPr id="6" name="Shape 4"/>
          <p:cNvSpPr/>
          <p:nvPr/>
        </p:nvSpPr>
        <p:spPr>
          <a:xfrm>
            <a:off x="1219200" y="4394200"/>
            <a:ext cx="10363200" cy="12700"/>
          </a:xfrm>
          <a:prstGeom prst="rect">
            <a:avLst/>
          </a:prstGeom>
          <a:solidFill>
            <a:srgbClr val="E6E2EC"/>
          </a:solidFill>
          <a:ln/>
        </p:spPr>
      </p:sp>
      <p:sp>
        <p:nvSpPr>
          <p:cNvPr id="7" name="Text 5"/>
          <p:cNvSpPr txBox="1"/>
          <p:nvPr/>
        </p:nvSpPr>
        <p:spPr>
          <a:xfrm>
            <a:off x="609600" y="4279900"/>
            <a:ext cx="508000" cy="228600"/>
          </a:xfrm>
          <a:prstGeom prst="rect">
            <a:avLst/>
          </a:prstGeom>
          <a:noFill/>
          <a:ln/>
        </p:spPr>
        <p:txBody>
          <a:bodyPr wrap="square" lIns="0" tIns="0" rIns="0" bIns="0" rtlCol="0" anchor="t"/>
          <a:lstStyle/>
          <a:p>
            <a:pPr algn="r" indent="0" marL="0">
              <a:lnSpc>
                <a:spcPct val="140000"/>
              </a:lnSpc>
              <a:buNone/>
            </a:pPr>
            <a:r>
              <a:rPr lang="en-US" sz="1200" dirty="0">
                <a:solidFill>
                  <a:srgbClr val="5F5A68"/>
                </a:solidFill>
                <a:latin typeface="Arial" pitchFamily="34" charset="0"/>
                <a:ea typeface="Arial" pitchFamily="34" charset="-122"/>
                <a:cs typeface="Arial" pitchFamily="34" charset="-120"/>
              </a:rPr>
              <a:t>10 L</a:t>
            </a:r>
            <a:endParaRPr lang="en-US" sz="1200" dirty="0"/>
          </a:p>
        </p:txBody>
      </p:sp>
      <p:sp>
        <p:nvSpPr>
          <p:cNvPr id="8" name="Shape 6"/>
          <p:cNvSpPr/>
          <p:nvPr/>
        </p:nvSpPr>
        <p:spPr>
          <a:xfrm>
            <a:off x="1219200" y="3276600"/>
            <a:ext cx="10363200" cy="12700"/>
          </a:xfrm>
          <a:prstGeom prst="rect">
            <a:avLst/>
          </a:prstGeom>
          <a:solidFill>
            <a:srgbClr val="E6E2EC"/>
          </a:solidFill>
          <a:ln/>
        </p:spPr>
      </p:sp>
      <p:sp>
        <p:nvSpPr>
          <p:cNvPr id="9" name="Text 7"/>
          <p:cNvSpPr txBox="1"/>
          <p:nvPr/>
        </p:nvSpPr>
        <p:spPr>
          <a:xfrm>
            <a:off x="609600" y="3162300"/>
            <a:ext cx="508000" cy="228600"/>
          </a:xfrm>
          <a:prstGeom prst="rect">
            <a:avLst/>
          </a:prstGeom>
          <a:noFill/>
          <a:ln/>
        </p:spPr>
        <p:txBody>
          <a:bodyPr wrap="square" lIns="0" tIns="0" rIns="0" bIns="0" rtlCol="0" anchor="t"/>
          <a:lstStyle/>
          <a:p>
            <a:pPr algn="r" indent="0" marL="0">
              <a:lnSpc>
                <a:spcPct val="140000"/>
              </a:lnSpc>
              <a:buNone/>
            </a:pPr>
            <a:r>
              <a:rPr lang="en-US" sz="1200" dirty="0">
                <a:solidFill>
                  <a:srgbClr val="5F5A68"/>
                </a:solidFill>
                <a:latin typeface="Arial" pitchFamily="34" charset="0"/>
                <a:ea typeface="Arial" pitchFamily="34" charset="-122"/>
                <a:cs typeface="Arial" pitchFamily="34" charset="-120"/>
              </a:rPr>
              <a:t>20 L</a:t>
            </a:r>
            <a:endParaRPr lang="en-US" sz="1200" dirty="0"/>
          </a:p>
        </p:txBody>
      </p:sp>
      <p:sp>
        <p:nvSpPr>
          <p:cNvPr id="10" name="Shape 8"/>
          <p:cNvSpPr/>
          <p:nvPr/>
        </p:nvSpPr>
        <p:spPr>
          <a:xfrm>
            <a:off x="1219200" y="2159000"/>
            <a:ext cx="10363200" cy="12700"/>
          </a:xfrm>
          <a:prstGeom prst="rect">
            <a:avLst/>
          </a:prstGeom>
          <a:solidFill>
            <a:srgbClr val="E6E2EC"/>
          </a:solidFill>
          <a:ln/>
        </p:spPr>
      </p:sp>
      <p:sp>
        <p:nvSpPr>
          <p:cNvPr id="11" name="Text 9"/>
          <p:cNvSpPr txBox="1"/>
          <p:nvPr/>
        </p:nvSpPr>
        <p:spPr>
          <a:xfrm>
            <a:off x="609600" y="2044700"/>
            <a:ext cx="508000" cy="228600"/>
          </a:xfrm>
          <a:prstGeom prst="rect">
            <a:avLst/>
          </a:prstGeom>
          <a:noFill/>
          <a:ln/>
        </p:spPr>
        <p:txBody>
          <a:bodyPr wrap="square" lIns="0" tIns="0" rIns="0" bIns="0" rtlCol="0" anchor="t"/>
          <a:lstStyle/>
          <a:p>
            <a:pPr algn="r" indent="0" marL="0">
              <a:lnSpc>
                <a:spcPct val="140000"/>
              </a:lnSpc>
              <a:buNone/>
            </a:pPr>
            <a:r>
              <a:rPr lang="en-US" sz="1200" dirty="0">
                <a:solidFill>
                  <a:srgbClr val="5F5A68"/>
                </a:solidFill>
                <a:latin typeface="Arial" pitchFamily="34" charset="0"/>
                <a:ea typeface="Arial" pitchFamily="34" charset="-122"/>
                <a:cs typeface="Arial" pitchFamily="34" charset="-120"/>
              </a:rPr>
              <a:t>30 L</a:t>
            </a:r>
            <a:endParaRPr lang="en-US" sz="1200" dirty="0"/>
          </a:p>
        </p:txBody>
      </p:sp>
      <p:sp>
        <p:nvSpPr>
          <p:cNvPr id="12" name="Shape 10"/>
          <p:cNvSpPr/>
          <p:nvPr/>
        </p:nvSpPr>
        <p:spPr>
          <a:xfrm>
            <a:off x="1219200" y="5511800"/>
            <a:ext cx="10363200" cy="12700"/>
          </a:xfrm>
          <a:prstGeom prst="rect">
            <a:avLst/>
          </a:prstGeom>
          <a:solidFill>
            <a:srgbClr val="5F5A68"/>
          </a:solidFill>
          <a:ln/>
        </p:spPr>
      </p:sp>
      <p:sp>
        <p:nvSpPr>
          <p:cNvPr id="13" name="Shape 11"/>
          <p:cNvSpPr/>
          <p:nvPr/>
        </p:nvSpPr>
        <p:spPr>
          <a:xfrm>
            <a:off x="1447800" y="2762504"/>
            <a:ext cx="406400" cy="2749296"/>
          </a:xfrm>
          <a:prstGeom prst="rect">
            <a:avLst/>
          </a:prstGeom>
          <a:solidFill>
            <a:srgbClr val="9C95A8"/>
          </a:solidFill>
          <a:ln/>
        </p:spPr>
      </p:sp>
      <p:sp>
        <p:nvSpPr>
          <p:cNvPr id="14" name="Text 12"/>
          <p:cNvSpPr txBox="1"/>
          <p:nvPr/>
        </p:nvSpPr>
        <p:spPr>
          <a:xfrm>
            <a:off x="12192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Apr</a:t>
            </a:r>
            <a:endParaRPr lang="en-US" sz="1200" dirty="0"/>
          </a:p>
        </p:txBody>
      </p:sp>
      <p:sp>
        <p:nvSpPr>
          <p:cNvPr id="15" name="Shape 13"/>
          <p:cNvSpPr/>
          <p:nvPr/>
        </p:nvSpPr>
        <p:spPr>
          <a:xfrm>
            <a:off x="2311400" y="2572512"/>
            <a:ext cx="406400" cy="2939288"/>
          </a:xfrm>
          <a:prstGeom prst="rect">
            <a:avLst/>
          </a:prstGeom>
          <a:solidFill>
            <a:srgbClr val="9C95A8"/>
          </a:solidFill>
          <a:ln/>
        </p:spPr>
      </p:sp>
      <p:sp>
        <p:nvSpPr>
          <p:cNvPr id="16" name="Text 14"/>
          <p:cNvSpPr txBox="1"/>
          <p:nvPr/>
        </p:nvSpPr>
        <p:spPr>
          <a:xfrm>
            <a:off x="20828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May</a:t>
            </a:r>
            <a:endParaRPr lang="en-US" sz="1200" dirty="0"/>
          </a:p>
        </p:txBody>
      </p:sp>
      <p:sp>
        <p:nvSpPr>
          <p:cNvPr id="17" name="Shape 15"/>
          <p:cNvSpPr/>
          <p:nvPr/>
        </p:nvSpPr>
        <p:spPr>
          <a:xfrm>
            <a:off x="3175000" y="2706624"/>
            <a:ext cx="406400" cy="2805176"/>
          </a:xfrm>
          <a:prstGeom prst="rect">
            <a:avLst/>
          </a:prstGeom>
          <a:solidFill>
            <a:srgbClr val="9C95A8"/>
          </a:solidFill>
          <a:ln/>
        </p:spPr>
      </p:sp>
      <p:sp>
        <p:nvSpPr>
          <p:cNvPr id="18" name="Text 16"/>
          <p:cNvSpPr txBox="1"/>
          <p:nvPr/>
        </p:nvSpPr>
        <p:spPr>
          <a:xfrm>
            <a:off x="29464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Jun</a:t>
            </a:r>
            <a:endParaRPr lang="en-US" sz="1200" dirty="0"/>
          </a:p>
        </p:txBody>
      </p:sp>
      <p:sp>
        <p:nvSpPr>
          <p:cNvPr id="19" name="Shape 17"/>
          <p:cNvSpPr/>
          <p:nvPr/>
        </p:nvSpPr>
        <p:spPr>
          <a:xfrm>
            <a:off x="4038600" y="2851912"/>
            <a:ext cx="406400" cy="2659888"/>
          </a:xfrm>
          <a:prstGeom prst="rect">
            <a:avLst/>
          </a:prstGeom>
          <a:solidFill>
            <a:srgbClr val="9C95A8"/>
          </a:solidFill>
          <a:ln/>
        </p:spPr>
      </p:sp>
      <p:sp>
        <p:nvSpPr>
          <p:cNvPr id="20" name="Text 18"/>
          <p:cNvSpPr txBox="1"/>
          <p:nvPr/>
        </p:nvSpPr>
        <p:spPr>
          <a:xfrm>
            <a:off x="38100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Jul</a:t>
            </a:r>
            <a:endParaRPr lang="en-US" sz="1200" dirty="0"/>
          </a:p>
        </p:txBody>
      </p:sp>
      <p:sp>
        <p:nvSpPr>
          <p:cNvPr id="21" name="Shape 19"/>
          <p:cNvSpPr/>
          <p:nvPr/>
        </p:nvSpPr>
        <p:spPr>
          <a:xfrm>
            <a:off x="4902200" y="2728976"/>
            <a:ext cx="406400" cy="2782824"/>
          </a:xfrm>
          <a:prstGeom prst="rect">
            <a:avLst/>
          </a:prstGeom>
          <a:solidFill>
            <a:srgbClr val="9C95A8"/>
          </a:solidFill>
          <a:ln/>
        </p:spPr>
      </p:sp>
      <p:sp>
        <p:nvSpPr>
          <p:cNvPr id="22" name="Text 20"/>
          <p:cNvSpPr txBox="1"/>
          <p:nvPr/>
        </p:nvSpPr>
        <p:spPr>
          <a:xfrm>
            <a:off x="46736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Aug</a:t>
            </a:r>
            <a:endParaRPr lang="en-US" sz="1200" dirty="0"/>
          </a:p>
        </p:txBody>
      </p:sp>
      <p:sp>
        <p:nvSpPr>
          <p:cNvPr id="23" name="Shape 21"/>
          <p:cNvSpPr/>
          <p:nvPr/>
        </p:nvSpPr>
        <p:spPr>
          <a:xfrm>
            <a:off x="5765800" y="2639568"/>
            <a:ext cx="406400" cy="2872232"/>
          </a:xfrm>
          <a:prstGeom prst="rect">
            <a:avLst/>
          </a:prstGeom>
          <a:solidFill>
            <a:srgbClr val="9C95A8"/>
          </a:solidFill>
          <a:ln/>
        </p:spPr>
      </p:sp>
      <p:sp>
        <p:nvSpPr>
          <p:cNvPr id="24" name="Text 22"/>
          <p:cNvSpPr txBox="1"/>
          <p:nvPr/>
        </p:nvSpPr>
        <p:spPr>
          <a:xfrm>
            <a:off x="55372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Sep</a:t>
            </a:r>
            <a:endParaRPr lang="en-US" sz="1200" dirty="0"/>
          </a:p>
        </p:txBody>
      </p:sp>
      <p:sp>
        <p:nvSpPr>
          <p:cNvPr id="25" name="Shape 23"/>
          <p:cNvSpPr/>
          <p:nvPr/>
        </p:nvSpPr>
        <p:spPr>
          <a:xfrm>
            <a:off x="6629400" y="3634232"/>
            <a:ext cx="406400" cy="1877568"/>
          </a:xfrm>
          <a:prstGeom prst="rect">
            <a:avLst/>
          </a:prstGeom>
          <a:solidFill>
            <a:srgbClr val="7E22FF"/>
          </a:solidFill>
          <a:ln/>
        </p:spPr>
      </p:sp>
      <p:sp>
        <p:nvSpPr>
          <p:cNvPr id="26" name="Text 24"/>
          <p:cNvSpPr txBox="1"/>
          <p:nvPr/>
        </p:nvSpPr>
        <p:spPr>
          <a:xfrm>
            <a:off x="64008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Oct</a:t>
            </a:r>
            <a:endParaRPr lang="en-US" sz="1200" dirty="0"/>
          </a:p>
        </p:txBody>
      </p:sp>
      <p:sp>
        <p:nvSpPr>
          <p:cNvPr id="27" name="Shape 25"/>
          <p:cNvSpPr/>
          <p:nvPr/>
        </p:nvSpPr>
        <p:spPr>
          <a:xfrm>
            <a:off x="7493000" y="3701288"/>
            <a:ext cx="406400" cy="1810512"/>
          </a:xfrm>
          <a:prstGeom prst="rect">
            <a:avLst/>
          </a:prstGeom>
          <a:solidFill>
            <a:srgbClr val="7E22FF"/>
          </a:solidFill>
          <a:ln/>
        </p:spPr>
      </p:sp>
      <p:sp>
        <p:nvSpPr>
          <p:cNvPr id="28" name="Text 26"/>
          <p:cNvSpPr txBox="1"/>
          <p:nvPr/>
        </p:nvSpPr>
        <p:spPr>
          <a:xfrm>
            <a:off x="72644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Nov</a:t>
            </a:r>
            <a:endParaRPr lang="en-US" sz="1200" dirty="0"/>
          </a:p>
        </p:txBody>
      </p:sp>
      <p:sp>
        <p:nvSpPr>
          <p:cNvPr id="29" name="Shape 27"/>
          <p:cNvSpPr/>
          <p:nvPr/>
        </p:nvSpPr>
        <p:spPr>
          <a:xfrm>
            <a:off x="8356600" y="3734816"/>
            <a:ext cx="406400" cy="1776984"/>
          </a:xfrm>
          <a:prstGeom prst="rect">
            <a:avLst/>
          </a:prstGeom>
          <a:solidFill>
            <a:srgbClr val="7E22FF"/>
          </a:solidFill>
          <a:ln/>
        </p:spPr>
      </p:sp>
      <p:sp>
        <p:nvSpPr>
          <p:cNvPr id="30" name="Text 28"/>
          <p:cNvSpPr txBox="1"/>
          <p:nvPr/>
        </p:nvSpPr>
        <p:spPr>
          <a:xfrm>
            <a:off x="81280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Dec</a:t>
            </a:r>
            <a:endParaRPr lang="en-US" sz="1200" dirty="0"/>
          </a:p>
        </p:txBody>
      </p:sp>
      <p:sp>
        <p:nvSpPr>
          <p:cNvPr id="31" name="Shape 29"/>
          <p:cNvSpPr/>
          <p:nvPr/>
        </p:nvSpPr>
        <p:spPr>
          <a:xfrm>
            <a:off x="9220200" y="3656584"/>
            <a:ext cx="406400" cy="1855216"/>
          </a:xfrm>
          <a:prstGeom prst="rect">
            <a:avLst/>
          </a:prstGeom>
          <a:solidFill>
            <a:srgbClr val="7E22FF"/>
          </a:solidFill>
          <a:ln/>
        </p:spPr>
      </p:sp>
      <p:sp>
        <p:nvSpPr>
          <p:cNvPr id="32" name="Text 30"/>
          <p:cNvSpPr txBox="1"/>
          <p:nvPr/>
        </p:nvSpPr>
        <p:spPr>
          <a:xfrm>
            <a:off x="89916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Jan</a:t>
            </a:r>
            <a:endParaRPr lang="en-US" sz="1200" dirty="0"/>
          </a:p>
        </p:txBody>
      </p:sp>
      <p:sp>
        <p:nvSpPr>
          <p:cNvPr id="33" name="Shape 31"/>
          <p:cNvSpPr/>
          <p:nvPr/>
        </p:nvSpPr>
        <p:spPr>
          <a:xfrm>
            <a:off x="10083800" y="3600704"/>
            <a:ext cx="406400" cy="1911096"/>
          </a:xfrm>
          <a:prstGeom prst="rect">
            <a:avLst/>
          </a:prstGeom>
          <a:solidFill>
            <a:srgbClr val="7E22FF"/>
          </a:solidFill>
          <a:ln/>
        </p:spPr>
      </p:sp>
      <p:sp>
        <p:nvSpPr>
          <p:cNvPr id="34" name="Text 32"/>
          <p:cNvSpPr txBox="1"/>
          <p:nvPr/>
        </p:nvSpPr>
        <p:spPr>
          <a:xfrm>
            <a:off x="98552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Feb</a:t>
            </a:r>
            <a:endParaRPr lang="en-US" sz="1200" dirty="0"/>
          </a:p>
        </p:txBody>
      </p:sp>
      <p:sp>
        <p:nvSpPr>
          <p:cNvPr id="35" name="Shape 33"/>
          <p:cNvSpPr/>
          <p:nvPr/>
        </p:nvSpPr>
        <p:spPr>
          <a:xfrm>
            <a:off x="10947400" y="3678936"/>
            <a:ext cx="406400" cy="1832864"/>
          </a:xfrm>
          <a:prstGeom prst="rect">
            <a:avLst/>
          </a:prstGeom>
          <a:solidFill>
            <a:srgbClr val="7E22FF"/>
          </a:solidFill>
          <a:ln/>
        </p:spPr>
      </p:sp>
      <p:sp>
        <p:nvSpPr>
          <p:cNvPr id="36" name="Text 34"/>
          <p:cNvSpPr txBox="1"/>
          <p:nvPr/>
        </p:nvSpPr>
        <p:spPr>
          <a:xfrm>
            <a:off x="10718800" y="5613400"/>
            <a:ext cx="863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Mar</a:t>
            </a:r>
            <a:endParaRPr lang="en-US" sz="1200" dirty="0"/>
          </a:p>
        </p:txBody>
      </p:sp>
      <p:sp>
        <p:nvSpPr>
          <p:cNvPr id="37"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Your monthly bill falls by a third after the switch</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990600" y="2006600"/>
            <a:ext cx="3810000" cy="3810000"/>
          </a:xfrm>
          <a:prstGeom prst="blockArc">
            <a:avLst>
              <a:gd name="adj1" fmla="val 16260000"/>
              <a:gd name="adj2" fmla="val 4476000"/>
              <a:gd name="adj3" fmla="val 16000"/>
            </a:avLst>
          </a:prstGeom>
          <a:solidFill>
            <a:srgbClr val="7E22FF"/>
          </a:solidFill>
          <a:ln/>
        </p:spPr>
      </p:sp>
      <p:sp>
        <p:nvSpPr>
          <p:cNvPr id="3" name="Shape 1"/>
          <p:cNvSpPr/>
          <p:nvPr/>
        </p:nvSpPr>
        <p:spPr>
          <a:xfrm>
            <a:off x="990600" y="2006600"/>
            <a:ext cx="3810000" cy="3810000"/>
          </a:xfrm>
          <a:prstGeom prst="blockArc">
            <a:avLst>
              <a:gd name="adj1" fmla="val 4596000"/>
              <a:gd name="adj2" fmla="val 9228000"/>
              <a:gd name="adj3" fmla="val 16000"/>
            </a:avLst>
          </a:prstGeom>
          <a:solidFill>
            <a:srgbClr val="CAA7FF"/>
          </a:solidFill>
          <a:ln/>
        </p:spPr>
      </p:sp>
      <p:sp>
        <p:nvSpPr>
          <p:cNvPr id="4" name="Shape 2"/>
          <p:cNvSpPr/>
          <p:nvPr/>
        </p:nvSpPr>
        <p:spPr>
          <a:xfrm>
            <a:off x="990600" y="2006600"/>
            <a:ext cx="3810000" cy="3810000"/>
          </a:xfrm>
          <a:prstGeom prst="blockArc">
            <a:avLst>
              <a:gd name="adj1" fmla="val 9348000"/>
              <a:gd name="adj2" fmla="val 16140000"/>
              <a:gd name="adj3" fmla="val 16000"/>
            </a:avLst>
          </a:prstGeom>
          <a:solidFill>
            <a:srgbClr val="E6E2EC"/>
          </a:solidFill>
          <a:ln/>
        </p:spPr>
      </p:sp>
      <p:sp>
        <p:nvSpPr>
          <p:cNvPr id="5" name="Text 3"/>
          <p:cNvSpPr txBox="1"/>
          <p:nvPr/>
        </p:nvSpPr>
        <p:spPr>
          <a:xfrm>
            <a:off x="1625600" y="3441700"/>
            <a:ext cx="2540000" cy="698500"/>
          </a:xfrm>
          <a:prstGeom prst="rect">
            <a:avLst/>
          </a:prstGeom>
          <a:noFill/>
          <a:ln/>
        </p:spPr>
        <p:txBody>
          <a:bodyPr wrap="square" lIns="0" tIns="0" rIns="0" bIns="0" rtlCol="0" anchor="t"/>
          <a:lstStyle/>
          <a:p>
            <a:pPr algn="ctr" indent="0" marL="0">
              <a:lnSpc>
                <a:spcPct val="105000"/>
              </a:lnSpc>
              <a:buNone/>
            </a:pPr>
            <a:r>
              <a:rPr lang="en-US" sz="4800" b="1" dirty="0">
                <a:solidFill>
                  <a:srgbClr val="7E22FF"/>
                </a:solidFill>
                <a:latin typeface="Arial" pitchFamily="34" charset="0"/>
                <a:ea typeface="Arial" pitchFamily="34" charset="-122"/>
                <a:cs typeface="Arial" pitchFamily="34" charset="-120"/>
              </a:rPr>
              <a:t>68%</a:t>
            </a:r>
            <a:endParaRPr lang="en-US" sz="4800" dirty="0"/>
          </a:p>
        </p:txBody>
      </p:sp>
      <p:sp>
        <p:nvSpPr>
          <p:cNvPr id="6" name="Text 4"/>
          <p:cNvSpPr txBox="1"/>
          <p:nvPr/>
        </p:nvSpPr>
        <p:spPr>
          <a:xfrm>
            <a:off x="1625600" y="4165600"/>
            <a:ext cx="2540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from renewables</a:t>
            </a:r>
            <a:endParaRPr lang="en-US" sz="1200" dirty="0"/>
          </a:p>
        </p:txBody>
      </p:sp>
      <p:sp>
        <p:nvSpPr>
          <p:cNvPr id="7" name="Shape 5"/>
          <p:cNvSpPr/>
          <p:nvPr/>
        </p:nvSpPr>
        <p:spPr>
          <a:xfrm>
            <a:off x="6172200" y="2438400"/>
            <a:ext cx="5410200" cy="12700"/>
          </a:xfrm>
          <a:prstGeom prst="rect">
            <a:avLst/>
          </a:prstGeom>
          <a:solidFill>
            <a:srgbClr val="E6E2EC"/>
          </a:solidFill>
          <a:ln/>
        </p:spPr>
      </p:sp>
      <p:sp>
        <p:nvSpPr>
          <p:cNvPr id="8" name="Shape 6"/>
          <p:cNvSpPr/>
          <p:nvPr/>
        </p:nvSpPr>
        <p:spPr>
          <a:xfrm>
            <a:off x="6172200" y="2692400"/>
            <a:ext cx="152400" cy="152400"/>
          </a:xfrm>
          <a:prstGeom prst="rect">
            <a:avLst/>
          </a:prstGeom>
          <a:solidFill>
            <a:srgbClr val="7E22FF"/>
          </a:solidFill>
          <a:ln/>
        </p:spPr>
      </p:sp>
      <p:sp>
        <p:nvSpPr>
          <p:cNvPr id="9" name="Text 7"/>
          <p:cNvSpPr txBox="1"/>
          <p:nvPr/>
        </p:nvSpPr>
        <p:spPr>
          <a:xfrm>
            <a:off x="6477000" y="2641600"/>
            <a:ext cx="35560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Solar</a:t>
            </a:r>
            <a:endParaRPr lang="en-US" sz="1600" dirty="0"/>
          </a:p>
        </p:txBody>
      </p:sp>
      <p:sp>
        <p:nvSpPr>
          <p:cNvPr id="10" name="Text 8"/>
          <p:cNvSpPr txBox="1"/>
          <p:nvPr/>
        </p:nvSpPr>
        <p:spPr>
          <a:xfrm>
            <a:off x="9880600" y="2641600"/>
            <a:ext cx="1701800" cy="30480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46%</a:t>
            </a:r>
            <a:endParaRPr lang="en-US" sz="1600" dirty="0"/>
          </a:p>
        </p:txBody>
      </p:sp>
      <p:sp>
        <p:nvSpPr>
          <p:cNvPr id="11" name="Shape 9"/>
          <p:cNvSpPr/>
          <p:nvPr/>
        </p:nvSpPr>
        <p:spPr>
          <a:xfrm>
            <a:off x="6172200" y="3149600"/>
            <a:ext cx="5410200" cy="12700"/>
          </a:xfrm>
          <a:prstGeom prst="rect">
            <a:avLst/>
          </a:prstGeom>
          <a:solidFill>
            <a:srgbClr val="E6E2EC"/>
          </a:solidFill>
          <a:ln/>
        </p:spPr>
      </p:sp>
      <p:sp>
        <p:nvSpPr>
          <p:cNvPr id="12" name="Shape 10"/>
          <p:cNvSpPr/>
          <p:nvPr/>
        </p:nvSpPr>
        <p:spPr>
          <a:xfrm>
            <a:off x="6172200" y="3403600"/>
            <a:ext cx="152400" cy="152400"/>
          </a:xfrm>
          <a:prstGeom prst="rect">
            <a:avLst/>
          </a:prstGeom>
          <a:solidFill>
            <a:srgbClr val="CAA7FF"/>
          </a:solidFill>
          <a:ln/>
        </p:spPr>
      </p:sp>
      <p:sp>
        <p:nvSpPr>
          <p:cNvPr id="13" name="Text 11"/>
          <p:cNvSpPr txBox="1"/>
          <p:nvPr/>
        </p:nvSpPr>
        <p:spPr>
          <a:xfrm>
            <a:off x="6477000" y="3352800"/>
            <a:ext cx="35560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Wind</a:t>
            </a:r>
            <a:endParaRPr lang="en-US" sz="1600" dirty="0"/>
          </a:p>
        </p:txBody>
      </p:sp>
      <p:sp>
        <p:nvSpPr>
          <p:cNvPr id="14" name="Text 12"/>
          <p:cNvSpPr txBox="1"/>
          <p:nvPr/>
        </p:nvSpPr>
        <p:spPr>
          <a:xfrm>
            <a:off x="9880600" y="3352800"/>
            <a:ext cx="1701800" cy="30480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22%</a:t>
            </a:r>
            <a:endParaRPr lang="en-US" sz="1600" dirty="0"/>
          </a:p>
        </p:txBody>
      </p:sp>
      <p:sp>
        <p:nvSpPr>
          <p:cNvPr id="15" name="Shape 13"/>
          <p:cNvSpPr/>
          <p:nvPr/>
        </p:nvSpPr>
        <p:spPr>
          <a:xfrm>
            <a:off x="6172200" y="3860800"/>
            <a:ext cx="5410200" cy="12700"/>
          </a:xfrm>
          <a:prstGeom prst="rect">
            <a:avLst/>
          </a:prstGeom>
          <a:solidFill>
            <a:srgbClr val="E6E2EC"/>
          </a:solidFill>
          <a:ln/>
        </p:spPr>
      </p:sp>
      <p:sp>
        <p:nvSpPr>
          <p:cNvPr id="16" name="Shape 14"/>
          <p:cNvSpPr/>
          <p:nvPr/>
        </p:nvSpPr>
        <p:spPr>
          <a:xfrm>
            <a:off x="6172200" y="4114800"/>
            <a:ext cx="152400" cy="152400"/>
          </a:xfrm>
          <a:prstGeom prst="rect">
            <a:avLst/>
          </a:prstGeom>
          <a:solidFill>
            <a:srgbClr val="E6E2EC"/>
          </a:solidFill>
          <a:ln/>
        </p:spPr>
      </p:sp>
      <p:sp>
        <p:nvSpPr>
          <p:cNvPr id="17" name="Text 15"/>
          <p:cNvSpPr txBox="1"/>
          <p:nvPr/>
        </p:nvSpPr>
        <p:spPr>
          <a:xfrm>
            <a:off x="6477000" y="4064000"/>
            <a:ext cx="35560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Grid</a:t>
            </a:r>
            <a:endParaRPr lang="en-US" sz="1600" dirty="0"/>
          </a:p>
        </p:txBody>
      </p:sp>
      <p:sp>
        <p:nvSpPr>
          <p:cNvPr id="18" name="Text 16"/>
          <p:cNvSpPr txBox="1"/>
          <p:nvPr/>
        </p:nvSpPr>
        <p:spPr>
          <a:xfrm>
            <a:off x="9880600" y="4064000"/>
            <a:ext cx="1701800" cy="30480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32%</a:t>
            </a:r>
            <a:endParaRPr lang="en-US" sz="1600" dirty="0"/>
          </a:p>
        </p:txBody>
      </p:sp>
      <p:sp>
        <p:nvSpPr>
          <p:cNvPr id="19" name="Text 17"/>
          <p:cNvSpPr txBox="1"/>
          <p:nvPr/>
        </p:nvSpPr>
        <p:spPr>
          <a:xfrm>
            <a:off x="6172200" y="4775200"/>
            <a:ext cx="5410200" cy="6096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Solar and wind through open access. The rest from the grid, mostly at night.</a:t>
            </a:r>
            <a:endParaRPr lang="en-US" sz="1600" dirty="0"/>
          </a:p>
        </p:txBody>
      </p:sp>
      <p:sp>
        <p:nvSpPr>
          <p:cNvPr id="20"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Two thirds of your power will come from the sun and wind</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1219200" y="4360333"/>
            <a:ext cx="8458200" cy="12700"/>
          </a:xfrm>
          <a:prstGeom prst="rect">
            <a:avLst/>
          </a:prstGeom>
          <a:solidFill>
            <a:srgbClr val="E6E2EC"/>
          </a:solidFill>
          <a:ln/>
        </p:spPr>
      </p:sp>
      <p:sp>
        <p:nvSpPr>
          <p:cNvPr id="3" name="Text 1"/>
          <p:cNvSpPr txBox="1"/>
          <p:nvPr/>
        </p:nvSpPr>
        <p:spPr>
          <a:xfrm>
            <a:off x="609600" y="4246033"/>
            <a:ext cx="508000" cy="228600"/>
          </a:xfrm>
          <a:prstGeom prst="rect">
            <a:avLst/>
          </a:prstGeom>
          <a:noFill/>
          <a:ln/>
        </p:spPr>
        <p:txBody>
          <a:bodyPr wrap="square" lIns="0" tIns="0" rIns="0" bIns="0" rtlCol="0" anchor="t"/>
          <a:lstStyle/>
          <a:p>
            <a:pPr algn="r" indent="0" marL="0">
              <a:lnSpc>
                <a:spcPct val="140000"/>
              </a:lnSpc>
              <a:buNone/>
            </a:pPr>
            <a:r>
              <a:rPr lang="en-US" sz="1200" dirty="0">
                <a:solidFill>
                  <a:srgbClr val="5F5A68"/>
                </a:solidFill>
                <a:latin typeface="Arial" pitchFamily="34" charset="0"/>
                <a:ea typeface="Arial" pitchFamily="34" charset="-122"/>
                <a:cs typeface="Arial" pitchFamily="34" charset="-120"/>
              </a:rPr>
              <a:t>₹4</a:t>
            </a:r>
            <a:endParaRPr lang="en-US" sz="1200" dirty="0"/>
          </a:p>
        </p:txBody>
      </p:sp>
      <p:sp>
        <p:nvSpPr>
          <p:cNvPr id="4" name="Shape 2"/>
          <p:cNvSpPr/>
          <p:nvPr/>
        </p:nvSpPr>
        <p:spPr>
          <a:xfrm>
            <a:off x="1219200" y="3259667"/>
            <a:ext cx="8458200" cy="12700"/>
          </a:xfrm>
          <a:prstGeom prst="rect">
            <a:avLst/>
          </a:prstGeom>
          <a:solidFill>
            <a:srgbClr val="E6E2EC"/>
          </a:solidFill>
          <a:ln/>
        </p:spPr>
      </p:sp>
      <p:sp>
        <p:nvSpPr>
          <p:cNvPr id="5" name="Text 3"/>
          <p:cNvSpPr txBox="1"/>
          <p:nvPr/>
        </p:nvSpPr>
        <p:spPr>
          <a:xfrm>
            <a:off x="609600" y="3145367"/>
            <a:ext cx="508000" cy="228600"/>
          </a:xfrm>
          <a:prstGeom prst="rect">
            <a:avLst/>
          </a:prstGeom>
          <a:noFill/>
          <a:ln/>
        </p:spPr>
        <p:txBody>
          <a:bodyPr wrap="square" lIns="0" tIns="0" rIns="0" bIns="0" rtlCol="0" anchor="t"/>
          <a:lstStyle/>
          <a:p>
            <a:pPr algn="r" indent="0" marL="0">
              <a:lnSpc>
                <a:spcPct val="140000"/>
              </a:lnSpc>
              <a:buNone/>
            </a:pPr>
            <a:r>
              <a:rPr lang="en-US" sz="1200" dirty="0">
                <a:solidFill>
                  <a:srgbClr val="5F5A68"/>
                </a:solidFill>
                <a:latin typeface="Arial" pitchFamily="34" charset="0"/>
                <a:ea typeface="Arial" pitchFamily="34" charset="-122"/>
                <a:cs typeface="Arial" pitchFamily="34" charset="-120"/>
              </a:rPr>
              <a:t>₹8</a:t>
            </a:r>
            <a:endParaRPr lang="en-US" sz="1200" dirty="0"/>
          </a:p>
        </p:txBody>
      </p:sp>
      <p:sp>
        <p:nvSpPr>
          <p:cNvPr id="6" name="Shape 4"/>
          <p:cNvSpPr/>
          <p:nvPr/>
        </p:nvSpPr>
        <p:spPr>
          <a:xfrm>
            <a:off x="1219200" y="2159000"/>
            <a:ext cx="8458200" cy="12700"/>
          </a:xfrm>
          <a:prstGeom prst="rect">
            <a:avLst/>
          </a:prstGeom>
          <a:solidFill>
            <a:srgbClr val="E6E2EC"/>
          </a:solidFill>
          <a:ln/>
        </p:spPr>
      </p:sp>
      <p:sp>
        <p:nvSpPr>
          <p:cNvPr id="7" name="Text 5"/>
          <p:cNvSpPr txBox="1"/>
          <p:nvPr/>
        </p:nvSpPr>
        <p:spPr>
          <a:xfrm>
            <a:off x="609600" y="2044700"/>
            <a:ext cx="508000" cy="228600"/>
          </a:xfrm>
          <a:prstGeom prst="rect">
            <a:avLst/>
          </a:prstGeom>
          <a:noFill/>
          <a:ln/>
        </p:spPr>
        <p:txBody>
          <a:bodyPr wrap="square" lIns="0" tIns="0" rIns="0" bIns="0" rtlCol="0" anchor="t"/>
          <a:lstStyle/>
          <a:p>
            <a:pPr algn="r" indent="0" marL="0">
              <a:lnSpc>
                <a:spcPct val="140000"/>
              </a:lnSpc>
              <a:buNone/>
            </a:pPr>
            <a:r>
              <a:rPr lang="en-US" sz="1200" dirty="0">
                <a:solidFill>
                  <a:srgbClr val="5F5A68"/>
                </a:solidFill>
                <a:latin typeface="Arial" pitchFamily="34" charset="0"/>
                <a:ea typeface="Arial" pitchFamily="34" charset="-122"/>
                <a:cs typeface="Arial" pitchFamily="34" charset="-120"/>
              </a:rPr>
              <a:t>₹12</a:t>
            </a:r>
            <a:endParaRPr lang="en-US" sz="1200" dirty="0"/>
          </a:p>
        </p:txBody>
      </p:sp>
      <p:sp>
        <p:nvSpPr>
          <p:cNvPr id="8" name="Shape 6"/>
          <p:cNvSpPr/>
          <p:nvPr/>
        </p:nvSpPr>
        <p:spPr>
          <a:xfrm>
            <a:off x="1219200" y="5461000"/>
            <a:ext cx="8458200" cy="12700"/>
          </a:xfrm>
          <a:prstGeom prst="rect">
            <a:avLst/>
          </a:prstGeom>
          <a:solidFill>
            <a:srgbClr val="5F5A68"/>
          </a:solidFill>
          <a:ln/>
        </p:spPr>
      </p:sp>
      <p:sp>
        <p:nvSpPr>
          <p:cNvPr id="9" name="Shape 7"/>
          <p:cNvSpPr/>
          <p:nvPr/>
        </p:nvSpPr>
        <p:spPr>
          <a:xfrm>
            <a:off x="5448300" y="2006600"/>
            <a:ext cx="0" cy="3454400"/>
          </a:xfrm>
          <a:prstGeom prst="line">
            <a:avLst/>
          </a:prstGeom>
          <a:noFill/>
          <a:ln w="19050">
            <a:solidFill>
              <a:srgbClr val="9C95A8"/>
            </a:solidFill>
            <a:prstDash val="dash"/>
          </a:ln>
        </p:spPr>
      </p:sp>
      <p:sp>
        <p:nvSpPr>
          <p:cNvPr id="10" name="Text 8"/>
          <p:cNvSpPr txBox="1"/>
          <p:nvPr/>
        </p:nvSpPr>
        <p:spPr>
          <a:xfrm>
            <a:off x="5524500" y="1905000"/>
            <a:ext cx="1016000" cy="228600"/>
          </a:xfrm>
          <a:prstGeom prst="rect">
            <a:avLst/>
          </a:prstGeom>
          <a:noFill/>
          <a:ln/>
        </p:spPr>
        <p:txBody>
          <a:bodyPr wrap="square" lIns="0" tIns="0" rIns="0" bIns="0" rtlCol="0" anchor="t"/>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Today</a:t>
            </a:r>
            <a:endParaRPr lang="en-US" sz="1200" dirty="0"/>
          </a:p>
        </p:txBody>
      </p:sp>
      <p:sp>
        <p:nvSpPr>
          <p:cNvPr id="11" name="Text 9"/>
          <p:cNvSpPr txBox="1"/>
          <p:nvPr/>
        </p:nvSpPr>
        <p:spPr>
          <a:xfrm>
            <a:off x="83820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2021</a:t>
            </a:r>
            <a:endParaRPr lang="en-US" sz="1200" dirty="0"/>
          </a:p>
        </p:txBody>
      </p:sp>
      <p:sp>
        <p:nvSpPr>
          <p:cNvPr id="12" name="Text 10"/>
          <p:cNvSpPr txBox="1"/>
          <p:nvPr/>
        </p:nvSpPr>
        <p:spPr>
          <a:xfrm>
            <a:off x="168402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2022</a:t>
            </a:r>
            <a:endParaRPr lang="en-US" sz="1200" dirty="0"/>
          </a:p>
        </p:txBody>
      </p:sp>
      <p:sp>
        <p:nvSpPr>
          <p:cNvPr id="13" name="Text 11"/>
          <p:cNvSpPr txBox="1"/>
          <p:nvPr/>
        </p:nvSpPr>
        <p:spPr>
          <a:xfrm>
            <a:off x="252984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2023</a:t>
            </a:r>
            <a:endParaRPr lang="en-US" sz="1200" dirty="0"/>
          </a:p>
        </p:txBody>
      </p:sp>
      <p:sp>
        <p:nvSpPr>
          <p:cNvPr id="14" name="Text 12"/>
          <p:cNvSpPr txBox="1"/>
          <p:nvPr/>
        </p:nvSpPr>
        <p:spPr>
          <a:xfrm>
            <a:off x="337566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2024</a:t>
            </a:r>
            <a:endParaRPr lang="en-US" sz="1200" dirty="0"/>
          </a:p>
        </p:txBody>
      </p:sp>
      <p:sp>
        <p:nvSpPr>
          <p:cNvPr id="15" name="Text 13"/>
          <p:cNvSpPr txBox="1"/>
          <p:nvPr/>
        </p:nvSpPr>
        <p:spPr>
          <a:xfrm>
            <a:off x="422148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2025</a:t>
            </a:r>
            <a:endParaRPr lang="en-US" sz="1200" dirty="0"/>
          </a:p>
        </p:txBody>
      </p:sp>
      <p:sp>
        <p:nvSpPr>
          <p:cNvPr id="16" name="Text 14"/>
          <p:cNvSpPr txBox="1"/>
          <p:nvPr/>
        </p:nvSpPr>
        <p:spPr>
          <a:xfrm>
            <a:off x="506730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2026</a:t>
            </a:r>
            <a:endParaRPr lang="en-US" sz="1200" dirty="0"/>
          </a:p>
        </p:txBody>
      </p:sp>
      <p:sp>
        <p:nvSpPr>
          <p:cNvPr id="17" name="Text 15"/>
          <p:cNvSpPr txBox="1"/>
          <p:nvPr/>
        </p:nvSpPr>
        <p:spPr>
          <a:xfrm>
            <a:off x="591312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2027</a:t>
            </a:r>
            <a:endParaRPr lang="en-US" sz="1200" dirty="0"/>
          </a:p>
        </p:txBody>
      </p:sp>
      <p:sp>
        <p:nvSpPr>
          <p:cNvPr id="18" name="Text 16"/>
          <p:cNvSpPr txBox="1"/>
          <p:nvPr/>
        </p:nvSpPr>
        <p:spPr>
          <a:xfrm>
            <a:off x="675894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2028</a:t>
            </a:r>
            <a:endParaRPr lang="en-US" sz="1200" dirty="0"/>
          </a:p>
        </p:txBody>
      </p:sp>
      <p:sp>
        <p:nvSpPr>
          <p:cNvPr id="19" name="Text 17"/>
          <p:cNvSpPr txBox="1"/>
          <p:nvPr/>
        </p:nvSpPr>
        <p:spPr>
          <a:xfrm>
            <a:off x="760476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2029</a:t>
            </a:r>
            <a:endParaRPr lang="en-US" sz="1200" dirty="0"/>
          </a:p>
        </p:txBody>
      </p:sp>
      <p:sp>
        <p:nvSpPr>
          <p:cNvPr id="20" name="Text 18"/>
          <p:cNvSpPr txBox="1"/>
          <p:nvPr/>
        </p:nvSpPr>
        <p:spPr>
          <a:xfrm>
            <a:off x="845058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2030</a:t>
            </a:r>
            <a:endParaRPr lang="en-US" sz="1200" dirty="0"/>
          </a:p>
        </p:txBody>
      </p:sp>
      <p:sp>
        <p:nvSpPr>
          <p:cNvPr id="21" name="Text 19"/>
          <p:cNvSpPr txBox="1"/>
          <p:nvPr/>
        </p:nvSpPr>
        <p:spPr>
          <a:xfrm>
            <a:off x="9296400" y="5562600"/>
            <a:ext cx="7620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2031</a:t>
            </a:r>
            <a:endParaRPr lang="en-US" sz="1200" dirty="0"/>
          </a:p>
        </p:txBody>
      </p:sp>
      <p:sp>
        <p:nvSpPr>
          <p:cNvPr id="22" name="Shape 20"/>
          <p:cNvSpPr/>
          <p:nvPr/>
        </p:nvSpPr>
        <p:spPr>
          <a:xfrm flipV="1">
            <a:off x="1219200" y="3397250"/>
            <a:ext cx="845820" cy="82550"/>
          </a:xfrm>
          <a:prstGeom prst="line">
            <a:avLst/>
          </a:prstGeom>
          <a:noFill/>
          <a:ln w="25400">
            <a:solidFill>
              <a:srgbClr val="19161F"/>
            </a:solidFill>
            <a:prstDash val="solid"/>
          </a:ln>
        </p:spPr>
      </p:sp>
      <p:sp>
        <p:nvSpPr>
          <p:cNvPr id="23" name="Shape 21"/>
          <p:cNvSpPr/>
          <p:nvPr/>
        </p:nvSpPr>
        <p:spPr>
          <a:xfrm flipV="1">
            <a:off x="2065020" y="3287183"/>
            <a:ext cx="845820" cy="110067"/>
          </a:xfrm>
          <a:prstGeom prst="line">
            <a:avLst/>
          </a:prstGeom>
          <a:noFill/>
          <a:ln w="25400">
            <a:solidFill>
              <a:srgbClr val="19161F"/>
            </a:solidFill>
            <a:prstDash val="solid"/>
          </a:ln>
        </p:spPr>
      </p:sp>
      <p:sp>
        <p:nvSpPr>
          <p:cNvPr id="24" name="Shape 22"/>
          <p:cNvSpPr/>
          <p:nvPr/>
        </p:nvSpPr>
        <p:spPr>
          <a:xfrm flipV="1">
            <a:off x="2910840" y="3204633"/>
            <a:ext cx="845820" cy="82550"/>
          </a:xfrm>
          <a:prstGeom prst="line">
            <a:avLst/>
          </a:prstGeom>
          <a:noFill/>
          <a:ln w="25400">
            <a:solidFill>
              <a:srgbClr val="19161F"/>
            </a:solidFill>
            <a:prstDash val="solid"/>
          </a:ln>
        </p:spPr>
      </p:sp>
      <p:sp>
        <p:nvSpPr>
          <p:cNvPr id="25" name="Shape 23"/>
          <p:cNvSpPr/>
          <p:nvPr/>
        </p:nvSpPr>
        <p:spPr>
          <a:xfrm flipV="1">
            <a:off x="3756660" y="3094567"/>
            <a:ext cx="845820" cy="110067"/>
          </a:xfrm>
          <a:prstGeom prst="line">
            <a:avLst/>
          </a:prstGeom>
          <a:noFill/>
          <a:ln w="25400">
            <a:solidFill>
              <a:srgbClr val="19161F"/>
            </a:solidFill>
            <a:prstDash val="solid"/>
          </a:ln>
        </p:spPr>
      </p:sp>
      <p:sp>
        <p:nvSpPr>
          <p:cNvPr id="26" name="Shape 24"/>
          <p:cNvSpPr/>
          <p:nvPr/>
        </p:nvSpPr>
        <p:spPr>
          <a:xfrm flipV="1">
            <a:off x="4602480" y="2984500"/>
            <a:ext cx="845820" cy="110067"/>
          </a:xfrm>
          <a:prstGeom prst="line">
            <a:avLst/>
          </a:prstGeom>
          <a:noFill/>
          <a:ln w="25400">
            <a:solidFill>
              <a:srgbClr val="19161F"/>
            </a:solidFill>
            <a:prstDash val="solid"/>
          </a:ln>
        </p:spPr>
      </p:sp>
      <p:sp>
        <p:nvSpPr>
          <p:cNvPr id="27" name="Shape 25"/>
          <p:cNvSpPr/>
          <p:nvPr/>
        </p:nvSpPr>
        <p:spPr>
          <a:xfrm flipV="1">
            <a:off x="5448300" y="2874433"/>
            <a:ext cx="845820" cy="110067"/>
          </a:xfrm>
          <a:prstGeom prst="line">
            <a:avLst/>
          </a:prstGeom>
          <a:noFill/>
          <a:ln w="25400">
            <a:solidFill>
              <a:srgbClr val="19161F"/>
            </a:solidFill>
            <a:prstDash val="solid"/>
          </a:ln>
        </p:spPr>
      </p:sp>
      <p:sp>
        <p:nvSpPr>
          <p:cNvPr id="28" name="Shape 26"/>
          <p:cNvSpPr/>
          <p:nvPr/>
        </p:nvSpPr>
        <p:spPr>
          <a:xfrm flipV="1">
            <a:off x="6294120" y="2736850"/>
            <a:ext cx="845820" cy="137583"/>
          </a:xfrm>
          <a:prstGeom prst="line">
            <a:avLst/>
          </a:prstGeom>
          <a:noFill/>
          <a:ln w="25400">
            <a:solidFill>
              <a:srgbClr val="19161F"/>
            </a:solidFill>
            <a:prstDash val="solid"/>
          </a:ln>
        </p:spPr>
      </p:sp>
      <p:sp>
        <p:nvSpPr>
          <p:cNvPr id="29" name="Shape 27"/>
          <p:cNvSpPr/>
          <p:nvPr/>
        </p:nvSpPr>
        <p:spPr>
          <a:xfrm flipV="1">
            <a:off x="7139940" y="2626783"/>
            <a:ext cx="845820" cy="110067"/>
          </a:xfrm>
          <a:prstGeom prst="line">
            <a:avLst/>
          </a:prstGeom>
          <a:noFill/>
          <a:ln w="25400">
            <a:solidFill>
              <a:srgbClr val="19161F"/>
            </a:solidFill>
            <a:prstDash val="solid"/>
          </a:ln>
        </p:spPr>
      </p:sp>
      <p:sp>
        <p:nvSpPr>
          <p:cNvPr id="30" name="Shape 28"/>
          <p:cNvSpPr/>
          <p:nvPr/>
        </p:nvSpPr>
        <p:spPr>
          <a:xfrm flipV="1">
            <a:off x="7985760" y="2489200"/>
            <a:ext cx="845820" cy="137583"/>
          </a:xfrm>
          <a:prstGeom prst="line">
            <a:avLst/>
          </a:prstGeom>
          <a:noFill/>
          <a:ln w="25400">
            <a:solidFill>
              <a:srgbClr val="19161F"/>
            </a:solidFill>
            <a:prstDash val="solid"/>
          </a:ln>
        </p:spPr>
      </p:sp>
      <p:sp>
        <p:nvSpPr>
          <p:cNvPr id="31" name="Shape 29"/>
          <p:cNvSpPr/>
          <p:nvPr/>
        </p:nvSpPr>
        <p:spPr>
          <a:xfrm flipV="1">
            <a:off x="8831580" y="2351617"/>
            <a:ext cx="845820" cy="137583"/>
          </a:xfrm>
          <a:prstGeom prst="line">
            <a:avLst/>
          </a:prstGeom>
          <a:noFill/>
          <a:ln w="25400">
            <a:solidFill>
              <a:srgbClr val="19161F"/>
            </a:solidFill>
            <a:prstDash val="solid"/>
          </a:ln>
        </p:spPr>
      </p:sp>
      <p:sp>
        <p:nvSpPr>
          <p:cNvPr id="32" name="Shape 30"/>
          <p:cNvSpPr/>
          <p:nvPr/>
        </p:nvSpPr>
        <p:spPr>
          <a:xfrm>
            <a:off x="5448300" y="3727450"/>
            <a:ext cx="4229100" cy="0"/>
          </a:xfrm>
          <a:prstGeom prst="line">
            <a:avLst/>
          </a:prstGeom>
          <a:noFill/>
          <a:ln w="38100">
            <a:solidFill>
              <a:srgbClr val="7E22FF"/>
            </a:solidFill>
            <a:prstDash val="solid"/>
          </a:ln>
        </p:spPr>
      </p:sp>
      <p:sp>
        <p:nvSpPr>
          <p:cNvPr id="33" name="Shape 31"/>
          <p:cNvSpPr/>
          <p:nvPr/>
        </p:nvSpPr>
        <p:spPr>
          <a:xfrm>
            <a:off x="9613900" y="2288117"/>
            <a:ext cx="127000" cy="127000"/>
          </a:xfrm>
          <a:prstGeom prst="ellipse">
            <a:avLst/>
          </a:prstGeom>
          <a:solidFill>
            <a:srgbClr val="19161F"/>
          </a:solidFill>
          <a:ln/>
        </p:spPr>
      </p:sp>
      <p:sp>
        <p:nvSpPr>
          <p:cNvPr id="34" name="Shape 32"/>
          <p:cNvSpPr/>
          <p:nvPr/>
        </p:nvSpPr>
        <p:spPr>
          <a:xfrm>
            <a:off x="5384800" y="3663950"/>
            <a:ext cx="127000" cy="127000"/>
          </a:xfrm>
          <a:prstGeom prst="ellipse">
            <a:avLst/>
          </a:prstGeom>
          <a:solidFill>
            <a:srgbClr val="7E22FF"/>
          </a:solidFill>
          <a:ln/>
        </p:spPr>
      </p:sp>
      <p:sp>
        <p:nvSpPr>
          <p:cNvPr id="35" name="Shape 33"/>
          <p:cNvSpPr/>
          <p:nvPr/>
        </p:nvSpPr>
        <p:spPr>
          <a:xfrm>
            <a:off x="9613900" y="3663950"/>
            <a:ext cx="127000" cy="127000"/>
          </a:xfrm>
          <a:prstGeom prst="ellipse">
            <a:avLst/>
          </a:prstGeom>
          <a:solidFill>
            <a:srgbClr val="7E22FF"/>
          </a:solidFill>
          <a:ln/>
        </p:spPr>
      </p:sp>
      <p:sp>
        <p:nvSpPr>
          <p:cNvPr id="36" name="Text 34"/>
          <p:cNvSpPr txBox="1"/>
          <p:nvPr/>
        </p:nvSpPr>
        <p:spPr>
          <a:xfrm>
            <a:off x="9880600" y="2199217"/>
            <a:ext cx="17018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Grid ₹11.30</a:t>
            </a:r>
            <a:endParaRPr lang="en-US" sz="1600" dirty="0"/>
          </a:p>
        </p:txBody>
      </p:sp>
      <p:sp>
        <p:nvSpPr>
          <p:cNvPr id="37" name="Text 35"/>
          <p:cNvSpPr txBox="1"/>
          <p:nvPr/>
        </p:nvSpPr>
        <p:spPr>
          <a:xfrm>
            <a:off x="9880600" y="3575050"/>
            <a:ext cx="1701800" cy="304800"/>
          </a:xfrm>
          <a:prstGeom prst="rect">
            <a:avLst/>
          </a:prstGeom>
          <a:noFill/>
          <a:ln/>
        </p:spPr>
        <p:txBody>
          <a:bodyPr wrap="square" lIns="0" tIns="0" rIns="0" bIns="0" rtlCol="0" anchor="t"/>
          <a:lstStyle/>
          <a:p>
            <a:pPr algn="l" indent="0" marL="0">
              <a:lnSpc>
                <a:spcPct val="135000"/>
              </a:lnSpc>
              <a:buNone/>
            </a:pPr>
            <a:r>
              <a:rPr lang="en-US" sz="1600" b="1" dirty="0">
                <a:solidFill>
                  <a:srgbClr val="7E22FF"/>
                </a:solidFill>
                <a:latin typeface="Arial" pitchFamily="34" charset="0"/>
                <a:ea typeface="Arial" pitchFamily="34" charset="-122"/>
                <a:cs typeface="Arial" pitchFamily="34" charset="-120"/>
              </a:rPr>
              <a:t>Neufin ₹6.30</a:t>
            </a:r>
            <a:endParaRPr lang="en-US" sz="1600" dirty="0"/>
          </a:p>
        </p:txBody>
      </p:sp>
      <p:sp>
        <p:nvSpPr>
          <p:cNvPr id="38" name="Text 36"/>
          <p:cNvSpPr txBox="1"/>
          <p:nvPr/>
        </p:nvSpPr>
        <p:spPr>
          <a:xfrm>
            <a:off x="609600" y="5867400"/>
            <a:ext cx="10972800" cy="228600"/>
          </a:xfrm>
          <a:prstGeom prst="rect">
            <a:avLst/>
          </a:prstGeom>
          <a:noFill/>
          <a:ln/>
        </p:spPr>
        <p:txBody>
          <a:bodyPr wrap="square" lIns="0" tIns="0" rIns="0" bIns="0" rtlCol="0" anchor="t"/>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Grid tariff after 2026 projected at 5% a year. ₹ per kWh.</a:t>
            </a:r>
            <a:endParaRPr lang="en-US" sz="1200" dirty="0"/>
          </a:p>
        </p:txBody>
      </p:sp>
      <p:sp>
        <p:nvSpPr>
          <p:cNvPr id="39"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Grid prices keep rising. Your contract price doesn’t.</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09600" y="5384800"/>
            <a:ext cx="10972800" cy="12700"/>
          </a:xfrm>
          <a:prstGeom prst="rect">
            <a:avLst/>
          </a:prstGeom>
          <a:solidFill>
            <a:srgbClr val="19161F"/>
          </a:solidFill>
          <a:ln/>
        </p:spPr>
      </p:sp>
      <p:sp>
        <p:nvSpPr>
          <p:cNvPr id="3" name="Shape 1"/>
          <p:cNvSpPr/>
          <p:nvPr/>
        </p:nvSpPr>
        <p:spPr>
          <a:xfrm>
            <a:off x="863600" y="3784600"/>
            <a:ext cx="863600" cy="1600200"/>
          </a:xfrm>
          <a:prstGeom prst="rect">
            <a:avLst/>
          </a:prstGeom>
          <a:solidFill>
            <a:srgbClr val="7E22FF"/>
          </a:solidFill>
          <a:ln/>
        </p:spPr>
      </p:sp>
      <p:sp>
        <p:nvSpPr>
          <p:cNvPr id="4" name="Text 2"/>
          <p:cNvSpPr txBox="1"/>
          <p:nvPr/>
        </p:nvSpPr>
        <p:spPr>
          <a:xfrm>
            <a:off x="609600" y="35052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19161F"/>
                </a:solidFill>
                <a:latin typeface="Arial" pitchFamily="34" charset="0"/>
                <a:ea typeface="Arial" pitchFamily="34" charset="-122"/>
                <a:cs typeface="Arial" pitchFamily="34" charset="-120"/>
              </a:rPr>
              <a:t>₹4.50</a:t>
            </a:r>
            <a:endParaRPr lang="en-US" sz="1200" dirty="0"/>
          </a:p>
        </p:txBody>
      </p:sp>
      <p:sp>
        <p:nvSpPr>
          <p:cNvPr id="5" name="Text 3"/>
          <p:cNvSpPr txBox="1"/>
          <p:nvPr/>
        </p:nvSpPr>
        <p:spPr>
          <a:xfrm>
            <a:off x="609600" y="54864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PPA tariff</a:t>
            </a:r>
            <a:endParaRPr lang="en-US" sz="1200" dirty="0"/>
          </a:p>
        </p:txBody>
      </p:sp>
      <p:sp>
        <p:nvSpPr>
          <p:cNvPr id="6" name="Shape 4"/>
          <p:cNvSpPr/>
          <p:nvPr/>
        </p:nvSpPr>
        <p:spPr>
          <a:xfrm>
            <a:off x="2235200" y="3589020"/>
            <a:ext cx="863600" cy="195580"/>
          </a:xfrm>
          <a:prstGeom prst="rect">
            <a:avLst/>
          </a:prstGeom>
          <a:solidFill>
            <a:srgbClr val="9C95A8"/>
          </a:solidFill>
          <a:ln/>
        </p:spPr>
      </p:sp>
      <p:sp>
        <p:nvSpPr>
          <p:cNvPr id="7" name="Text 5"/>
          <p:cNvSpPr txBox="1"/>
          <p:nvPr/>
        </p:nvSpPr>
        <p:spPr>
          <a:xfrm>
            <a:off x="1981200" y="330962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19161F"/>
                </a:solidFill>
                <a:latin typeface="Arial" pitchFamily="34" charset="0"/>
                <a:ea typeface="Arial" pitchFamily="34" charset="-122"/>
                <a:cs typeface="Arial" pitchFamily="34" charset="-120"/>
              </a:rPr>
              <a:t>+0.55</a:t>
            </a:r>
            <a:endParaRPr lang="en-US" sz="1200" dirty="0"/>
          </a:p>
        </p:txBody>
      </p:sp>
      <p:sp>
        <p:nvSpPr>
          <p:cNvPr id="8" name="Text 6"/>
          <p:cNvSpPr txBox="1"/>
          <p:nvPr/>
        </p:nvSpPr>
        <p:spPr>
          <a:xfrm>
            <a:off x="1981200" y="54864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Losses</a:t>
            </a:r>
            <a:endParaRPr lang="en-US" sz="1200" dirty="0"/>
          </a:p>
        </p:txBody>
      </p:sp>
      <p:sp>
        <p:nvSpPr>
          <p:cNvPr id="9" name="Shape 7"/>
          <p:cNvSpPr/>
          <p:nvPr/>
        </p:nvSpPr>
        <p:spPr>
          <a:xfrm>
            <a:off x="3606800" y="3535680"/>
            <a:ext cx="863600" cy="53340"/>
          </a:xfrm>
          <a:prstGeom prst="rect">
            <a:avLst/>
          </a:prstGeom>
          <a:solidFill>
            <a:srgbClr val="9C95A8"/>
          </a:solidFill>
          <a:ln/>
        </p:spPr>
      </p:sp>
      <p:sp>
        <p:nvSpPr>
          <p:cNvPr id="10" name="Text 8"/>
          <p:cNvSpPr txBox="1"/>
          <p:nvPr/>
        </p:nvSpPr>
        <p:spPr>
          <a:xfrm>
            <a:off x="3352800" y="325628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19161F"/>
                </a:solidFill>
                <a:latin typeface="Arial" pitchFamily="34" charset="0"/>
                <a:ea typeface="Arial" pitchFamily="34" charset="-122"/>
                <a:cs typeface="Arial" pitchFamily="34" charset="-120"/>
              </a:rPr>
              <a:t>+0.15</a:t>
            </a:r>
            <a:endParaRPr lang="en-US" sz="1200" dirty="0"/>
          </a:p>
        </p:txBody>
      </p:sp>
      <p:sp>
        <p:nvSpPr>
          <p:cNvPr id="11" name="Text 9"/>
          <p:cNvSpPr txBox="1"/>
          <p:nvPr/>
        </p:nvSpPr>
        <p:spPr>
          <a:xfrm>
            <a:off x="3352800" y="54864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Transmission</a:t>
            </a:r>
            <a:endParaRPr lang="en-US" sz="1200" dirty="0"/>
          </a:p>
        </p:txBody>
      </p:sp>
      <p:sp>
        <p:nvSpPr>
          <p:cNvPr id="12" name="Shape 10"/>
          <p:cNvSpPr/>
          <p:nvPr/>
        </p:nvSpPr>
        <p:spPr>
          <a:xfrm>
            <a:off x="4978400" y="3357880"/>
            <a:ext cx="863600" cy="177800"/>
          </a:xfrm>
          <a:prstGeom prst="rect">
            <a:avLst/>
          </a:prstGeom>
          <a:solidFill>
            <a:srgbClr val="9C95A8"/>
          </a:solidFill>
          <a:ln/>
        </p:spPr>
      </p:sp>
      <p:sp>
        <p:nvSpPr>
          <p:cNvPr id="13" name="Text 11"/>
          <p:cNvSpPr txBox="1"/>
          <p:nvPr/>
        </p:nvSpPr>
        <p:spPr>
          <a:xfrm>
            <a:off x="4724400" y="307848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19161F"/>
                </a:solidFill>
                <a:latin typeface="Arial" pitchFamily="34" charset="0"/>
                <a:ea typeface="Arial" pitchFamily="34" charset="-122"/>
                <a:cs typeface="Arial" pitchFamily="34" charset="-120"/>
              </a:rPr>
              <a:t>+0.50</a:t>
            </a:r>
            <a:endParaRPr lang="en-US" sz="1200" dirty="0"/>
          </a:p>
        </p:txBody>
      </p:sp>
      <p:sp>
        <p:nvSpPr>
          <p:cNvPr id="14" name="Text 12"/>
          <p:cNvSpPr txBox="1"/>
          <p:nvPr/>
        </p:nvSpPr>
        <p:spPr>
          <a:xfrm>
            <a:off x="4724400" y="54864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Wheeling</a:t>
            </a:r>
            <a:endParaRPr lang="en-US" sz="1200" dirty="0"/>
          </a:p>
        </p:txBody>
      </p:sp>
      <p:sp>
        <p:nvSpPr>
          <p:cNvPr id="15" name="Shape 13"/>
          <p:cNvSpPr/>
          <p:nvPr/>
        </p:nvSpPr>
        <p:spPr>
          <a:xfrm>
            <a:off x="6350000" y="3222752"/>
            <a:ext cx="863600" cy="135128"/>
          </a:xfrm>
          <a:prstGeom prst="rect">
            <a:avLst/>
          </a:prstGeom>
          <a:solidFill>
            <a:srgbClr val="9C95A8"/>
          </a:solidFill>
          <a:ln/>
        </p:spPr>
      </p:sp>
      <p:sp>
        <p:nvSpPr>
          <p:cNvPr id="16" name="Text 14"/>
          <p:cNvSpPr txBox="1"/>
          <p:nvPr/>
        </p:nvSpPr>
        <p:spPr>
          <a:xfrm>
            <a:off x="6096000" y="2943352"/>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19161F"/>
                </a:solidFill>
                <a:latin typeface="Arial" pitchFamily="34" charset="0"/>
                <a:ea typeface="Arial" pitchFamily="34" charset="-122"/>
                <a:cs typeface="Arial" pitchFamily="34" charset="-120"/>
              </a:rPr>
              <a:t>+0.38</a:t>
            </a:r>
            <a:endParaRPr lang="en-US" sz="1200" dirty="0"/>
          </a:p>
        </p:txBody>
      </p:sp>
      <p:sp>
        <p:nvSpPr>
          <p:cNvPr id="17" name="Text 15"/>
          <p:cNvSpPr txBox="1"/>
          <p:nvPr/>
        </p:nvSpPr>
        <p:spPr>
          <a:xfrm>
            <a:off x="6096000" y="54864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Cross-subsidy</a:t>
            </a:r>
            <a:endParaRPr lang="en-US" sz="1200" dirty="0"/>
          </a:p>
        </p:txBody>
      </p:sp>
      <p:sp>
        <p:nvSpPr>
          <p:cNvPr id="18" name="Shape 16"/>
          <p:cNvSpPr/>
          <p:nvPr/>
        </p:nvSpPr>
        <p:spPr>
          <a:xfrm>
            <a:off x="7721600" y="3148076"/>
            <a:ext cx="863600" cy="74676"/>
          </a:xfrm>
          <a:prstGeom prst="rect">
            <a:avLst/>
          </a:prstGeom>
          <a:solidFill>
            <a:srgbClr val="9C95A8"/>
          </a:solidFill>
          <a:ln/>
        </p:spPr>
      </p:sp>
      <p:sp>
        <p:nvSpPr>
          <p:cNvPr id="19" name="Text 17"/>
          <p:cNvSpPr txBox="1"/>
          <p:nvPr/>
        </p:nvSpPr>
        <p:spPr>
          <a:xfrm>
            <a:off x="7467600" y="2868676"/>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19161F"/>
                </a:solidFill>
                <a:latin typeface="Arial" pitchFamily="34" charset="0"/>
                <a:ea typeface="Arial" pitchFamily="34" charset="-122"/>
                <a:cs typeface="Arial" pitchFamily="34" charset="-120"/>
              </a:rPr>
              <a:t>+0.21</a:t>
            </a:r>
            <a:endParaRPr lang="en-US" sz="1200" dirty="0"/>
          </a:p>
        </p:txBody>
      </p:sp>
      <p:sp>
        <p:nvSpPr>
          <p:cNvPr id="20" name="Text 18"/>
          <p:cNvSpPr txBox="1"/>
          <p:nvPr/>
        </p:nvSpPr>
        <p:spPr>
          <a:xfrm>
            <a:off x="7467600" y="54864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Other</a:t>
            </a:r>
            <a:endParaRPr lang="en-US" sz="1200" dirty="0"/>
          </a:p>
        </p:txBody>
      </p:sp>
      <p:sp>
        <p:nvSpPr>
          <p:cNvPr id="21" name="Shape 19"/>
          <p:cNvSpPr/>
          <p:nvPr/>
        </p:nvSpPr>
        <p:spPr>
          <a:xfrm>
            <a:off x="9093200" y="3148076"/>
            <a:ext cx="863600" cy="2236724"/>
          </a:xfrm>
          <a:prstGeom prst="rect">
            <a:avLst/>
          </a:prstGeom>
          <a:solidFill>
            <a:srgbClr val="7E22FF"/>
          </a:solidFill>
          <a:ln/>
        </p:spPr>
      </p:sp>
      <p:sp>
        <p:nvSpPr>
          <p:cNvPr id="22" name="Text 20"/>
          <p:cNvSpPr txBox="1"/>
          <p:nvPr/>
        </p:nvSpPr>
        <p:spPr>
          <a:xfrm>
            <a:off x="8839200" y="2868676"/>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19161F"/>
                </a:solidFill>
                <a:latin typeface="Arial" pitchFamily="34" charset="0"/>
                <a:ea typeface="Arial" pitchFamily="34" charset="-122"/>
                <a:cs typeface="Arial" pitchFamily="34" charset="-120"/>
              </a:rPr>
              <a:t>₹6.29</a:t>
            </a:r>
            <a:endParaRPr lang="en-US" sz="1200" dirty="0"/>
          </a:p>
        </p:txBody>
      </p:sp>
      <p:sp>
        <p:nvSpPr>
          <p:cNvPr id="23" name="Text 21"/>
          <p:cNvSpPr txBox="1"/>
          <p:nvPr/>
        </p:nvSpPr>
        <p:spPr>
          <a:xfrm>
            <a:off x="8839200" y="54864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Landed</a:t>
            </a:r>
            <a:endParaRPr lang="en-US" sz="1200" dirty="0"/>
          </a:p>
        </p:txBody>
      </p:sp>
      <p:sp>
        <p:nvSpPr>
          <p:cNvPr id="24" name="Shape 22"/>
          <p:cNvSpPr/>
          <p:nvPr/>
        </p:nvSpPr>
        <p:spPr>
          <a:xfrm>
            <a:off x="10464800" y="2262632"/>
            <a:ext cx="863600" cy="3122168"/>
          </a:xfrm>
          <a:prstGeom prst="rect">
            <a:avLst/>
          </a:prstGeom>
          <a:solidFill>
            <a:srgbClr val="19161F"/>
          </a:solidFill>
          <a:ln/>
        </p:spPr>
      </p:sp>
      <p:sp>
        <p:nvSpPr>
          <p:cNvPr id="25" name="Text 23"/>
          <p:cNvSpPr txBox="1"/>
          <p:nvPr/>
        </p:nvSpPr>
        <p:spPr>
          <a:xfrm>
            <a:off x="10210800" y="1983232"/>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19161F"/>
                </a:solidFill>
                <a:latin typeface="Arial" pitchFamily="34" charset="0"/>
                <a:ea typeface="Arial" pitchFamily="34" charset="-122"/>
                <a:cs typeface="Arial" pitchFamily="34" charset="-120"/>
              </a:rPr>
              <a:t>₹8.78</a:t>
            </a:r>
            <a:endParaRPr lang="en-US" sz="1200" dirty="0"/>
          </a:p>
        </p:txBody>
      </p:sp>
      <p:sp>
        <p:nvSpPr>
          <p:cNvPr id="26" name="Text 24"/>
          <p:cNvSpPr txBox="1"/>
          <p:nvPr/>
        </p:nvSpPr>
        <p:spPr>
          <a:xfrm>
            <a:off x="10210800" y="5486400"/>
            <a:ext cx="1371600" cy="228600"/>
          </a:xfrm>
          <a:prstGeom prst="rect">
            <a:avLst/>
          </a:prstGeom>
          <a:noFill/>
          <a:ln/>
        </p:spPr>
        <p:txBody>
          <a:bodyPr wrap="square" lIns="0" tIns="0" rIns="0" bIns="0" rtlCol="0" anchor="t"/>
          <a:lstStyle/>
          <a:p>
            <a:pPr algn="ctr" indent="0" marL="0">
              <a:lnSpc>
                <a:spcPct val="140000"/>
              </a:lnSpc>
              <a:buNone/>
            </a:pPr>
            <a:r>
              <a:rPr lang="en-US" sz="1200" dirty="0">
                <a:solidFill>
                  <a:srgbClr val="5F5A68"/>
                </a:solidFill>
                <a:latin typeface="Arial" pitchFamily="34" charset="0"/>
                <a:ea typeface="Arial" pitchFamily="34" charset="-122"/>
                <a:cs typeface="Arial" pitchFamily="34" charset="-120"/>
              </a:rPr>
              <a:t>Grid rate</a:t>
            </a:r>
            <a:endParaRPr lang="en-US" sz="1200" dirty="0"/>
          </a:p>
        </p:txBody>
      </p:sp>
      <p:sp>
        <p:nvSpPr>
          <p:cNvPr id="27" name="Shape 25"/>
          <p:cNvSpPr/>
          <p:nvPr/>
        </p:nvSpPr>
        <p:spPr>
          <a:xfrm>
            <a:off x="8991600" y="2262632"/>
            <a:ext cx="1219200" cy="0"/>
          </a:xfrm>
          <a:prstGeom prst="line">
            <a:avLst/>
          </a:prstGeom>
          <a:noFill/>
          <a:ln w="19050">
            <a:solidFill>
              <a:srgbClr val="19161F"/>
            </a:solidFill>
            <a:prstDash val="dash"/>
          </a:ln>
        </p:spPr>
      </p:sp>
      <p:sp>
        <p:nvSpPr>
          <p:cNvPr id="28" name="Text 26"/>
          <p:cNvSpPr txBox="1"/>
          <p:nvPr/>
        </p:nvSpPr>
        <p:spPr>
          <a:xfrm>
            <a:off x="8636000" y="2364232"/>
            <a:ext cx="1778000" cy="254000"/>
          </a:xfrm>
          <a:prstGeom prst="rect">
            <a:avLst/>
          </a:prstGeom>
          <a:noFill/>
          <a:ln/>
        </p:spPr>
        <p:txBody>
          <a:bodyPr wrap="square" lIns="0" tIns="0" rIns="0" bIns="0" rtlCol="0" anchor="t"/>
          <a:lstStyle/>
          <a:p>
            <a:pPr algn="ctr" indent="0" marL="0">
              <a:lnSpc>
                <a:spcPct val="140000"/>
              </a:lnSpc>
              <a:buNone/>
            </a:pPr>
            <a:r>
              <a:rPr lang="en-US" sz="1200" b="1" dirty="0">
                <a:solidFill>
                  <a:srgbClr val="7E22FF"/>
                </a:solidFill>
                <a:latin typeface="Arial" pitchFamily="34" charset="0"/>
                <a:ea typeface="Arial" pitchFamily="34" charset="-122"/>
                <a:cs typeface="Arial" pitchFamily="34" charset="-120"/>
              </a:rPr>
              <a:t>₹2.49 less per unit</a:t>
            </a:r>
            <a:endParaRPr lang="en-US" sz="1200" dirty="0"/>
          </a:p>
        </p:txBody>
      </p:sp>
      <p:sp>
        <p:nvSpPr>
          <p:cNvPr id="29"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Open access lands ₹2.49 below the grid rate</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09600" y="1828800"/>
          <a:ext cx="10972800" cy="914400"/>
        </p:xfrm>
        <a:graphic>
          <a:graphicData uri="http://schemas.openxmlformats.org/drawingml/2006/table">
            <a:tbl>
              <a:tblPr/>
              <a:tblGrid>
                <a:gridCol w="2159000"/>
                <a:gridCol w="1905000"/>
                <a:gridCol w="1651000"/>
                <a:gridCol w="1524000"/>
                <a:gridCol w="1651000"/>
                <a:gridCol w="2082800"/>
              </a:tblGrid>
              <a:tr h="0">
                <a:tc>
                  <a:txBody>
                    <a:bodyPr/>
                    <a:lstStyle/>
                    <a:p>
                      <a:pPr algn="l" indent="0" marL="0">
                        <a:lnSpc>
                          <a:spcPct val="140000"/>
                        </a:lnSpc>
                        <a:buNone/>
                      </a:pPr>
                      <a:r>
                        <a:rPr lang="en-US" sz="1200" b="1" dirty="0">
                          <a:solidFill>
                            <a:srgbClr val="5F5A68"/>
                          </a:solidFill>
                          <a:latin typeface="Arial" pitchFamily="34" charset="0"/>
                          <a:ea typeface="Arial" pitchFamily="34" charset="-122"/>
                          <a:cs typeface="Arial" pitchFamily="34" charset="-120"/>
                        </a:rPr>
                        <a:t>Site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b="1" dirty="0">
                          <a:solidFill>
                            <a:srgbClr val="5F5A68"/>
                          </a:solidFill>
                          <a:latin typeface="Arial" pitchFamily="34" charset="0"/>
                          <a:ea typeface="Arial" pitchFamily="34" charset="-122"/>
                          <a:cs typeface="Arial" pitchFamily="34" charset="-120"/>
                        </a:rPr>
                        <a:t>State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5F5A68"/>
                          </a:solidFill>
                          <a:latin typeface="Arial" pitchFamily="34" charset="0"/>
                          <a:ea typeface="Arial" pitchFamily="34" charset="-122"/>
                          <a:cs typeface="Arial" pitchFamily="34" charset="-120"/>
                        </a:rPr>
                        <a:t>Units a month</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5F5A68"/>
                          </a:solidFill>
                          <a:latin typeface="Arial" pitchFamily="34" charset="0"/>
                          <a:ea typeface="Arial" pitchFamily="34" charset="-122"/>
                          <a:cs typeface="Arial" pitchFamily="34" charset="-120"/>
                        </a:rPr>
                        <a:t>Grid ₹/kWh</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5F5A68"/>
                          </a:solidFill>
                          <a:latin typeface="Arial" pitchFamily="34" charset="0"/>
                          <a:ea typeface="Arial" pitchFamily="34" charset="-122"/>
                          <a:cs typeface="Arial" pitchFamily="34" charset="-120"/>
                        </a:rPr>
                        <a:t>Neufin ₹/kWh</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5F5A68"/>
                          </a:solidFill>
                          <a:latin typeface="Arial" pitchFamily="34" charset="0"/>
                          <a:ea typeface="Arial" pitchFamily="34" charset="-122"/>
                          <a:cs typeface="Arial" pitchFamily="34" charset="-120"/>
                        </a:rPr>
                        <a:t>Annual saving</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Pune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Maharashtra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2.1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10.80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7E22FF"/>
                          </a:solidFill>
                          <a:latin typeface="Arial" pitchFamily="34" charset="0"/>
                          <a:ea typeface="Arial" pitchFamily="34" charset="-122"/>
                          <a:cs typeface="Arial" pitchFamily="34" charset="-120"/>
                        </a:rPr>
                        <a:t>6.60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19161F"/>
                          </a:solidFill>
                          <a:latin typeface="Arial" pitchFamily="34" charset="0"/>
                          <a:ea typeface="Arial" pitchFamily="34" charset="-122"/>
                          <a:cs typeface="Arial" pitchFamily="34" charset="-120"/>
                        </a:rPr>
                        <a:t>₹1.06 Cr</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Mumbai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Maharashtra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1.8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11.40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7E22FF"/>
                          </a:solidFill>
                          <a:latin typeface="Arial" pitchFamily="34" charset="0"/>
                          <a:ea typeface="Arial" pitchFamily="34" charset="-122"/>
                          <a:cs typeface="Arial" pitchFamily="34" charset="-120"/>
                        </a:rPr>
                        <a:t>6.70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19161F"/>
                          </a:solidFill>
                          <a:latin typeface="Arial" pitchFamily="34" charset="0"/>
                          <a:ea typeface="Arial" pitchFamily="34" charset="-122"/>
                          <a:cs typeface="Arial" pitchFamily="34" charset="-120"/>
                        </a:rPr>
                        <a:t>₹1.02 Cr</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Ahmedabad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Gujarat</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1.2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10.20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7E22FF"/>
                          </a:solidFill>
                          <a:latin typeface="Arial" pitchFamily="34" charset="0"/>
                          <a:ea typeface="Arial" pitchFamily="34" charset="-122"/>
                          <a:cs typeface="Arial" pitchFamily="34" charset="-120"/>
                        </a:rPr>
                        <a:t>6.40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19161F"/>
                          </a:solidFill>
                          <a:latin typeface="Arial" pitchFamily="34" charset="0"/>
                          <a:ea typeface="Arial" pitchFamily="34" charset="-122"/>
                          <a:cs typeface="Arial" pitchFamily="34" charset="-120"/>
                        </a:rPr>
                        <a:t>₹0.55 Cr</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Chennai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Tamil Nadu</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1.4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9.60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7E22FF"/>
                          </a:solidFill>
                          <a:latin typeface="Arial" pitchFamily="34" charset="0"/>
                          <a:ea typeface="Arial" pitchFamily="34" charset="-122"/>
                          <a:cs typeface="Arial" pitchFamily="34" charset="-120"/>
                        </a:rPr>
                        <a:t>6.10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19161F"/>
                          </a:solidFill>
                          <a:latin typeface="Arial" pitchFamily="34" charset="0"/>
                          <a:ea typeface="Arial" pitchFamily="34" charset="-122"/>
                          <a:cs typeface="Arial" pitchFamily="34" charset="-120"/>
                        </a:rPr>
                        <a:t>₹0.59 Cr</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Noida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Uttar Pradesh</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0.9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8.80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7E22FF"/>
                          </a:solidFill>
                          <a:latin typeface="Arial" pitchFamily="34" charset="0"/>
                          <a:ea typeface="Arial" pitchFamily="34" charset="-122"/>
                          <a:cs typeface="Arial" pitchFamily="34" charset="-120"/>
                        </a:rPr>
                        <a:t>6.30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19161F"/>
                          </a:solidFill>
                          <a:latin typeface="Arial" pitchFamily="34" charset="0"/>
                          <a:ea typeface="Arial" pitchFamily="34" charset="-122"/>
                          <a:cs typeface="Arial" pitchFamily="34" charset="-120"/>
                        </a:rPr>
                        <a:t>₹0.27 Cr</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Bengaluru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Karnataka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0.8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19161F"/>
                          </a:solidFill>
                          <a:latin typeface="Arial" pitchFamily="34" charset="0"/>
                          <a:ea typeface="Arial" pitchFamily="34" charset="-122"/>
                          <a:cs typeface="Arial" pitchFamily="34" charset="-120"/>
                        </a:rPr>
                        <a:t>9.40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dirty="0">
                          <a:solidFill>
                            <a:srgbClr val="7E22FF"/>
                          </a:solidFill>
                          <a:latin typeface="Arial" pitchFamily="34" charset="0"/>
                          <a:ea typeface="Arial" pitchFamily="34" charset="-122"/>
                          <a:cs typeface="Arial" pitchFamily="34" charset="-120"/>
                        </a:rPr>
                        <a:t>6.50</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r" indent="0" marL="0">
                        <a:lnSpc>
                          <a:spcPct val="140000"/>
                        </a:lnSpc>
                        <a:buNone/>
                      </a:pPr>
                      <a:r>
                        <a:rPr lang="en-US" sz="1200" b="1" dirty="0">
                          <a:solidFill>
                            <a:srgbClr val="19161F"/>
                          </a:solidFill>
                          <a:latin typeface="Arial" pitchFamily="34" charset="0"/>
                          <a:ea typeface="Arial" pitchFamily="34" charset="-122"/>
                          <a:cs typeface="Arial" pitchFamily="34" charset="-120"/>
                        </a:rPr>
                        <a:t>₹0.28 Cr</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b="1" dirty="0">
                          <a:solidFill>
                            <a:srgbClr val="19161F"/>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40000"/>
                        </a:lnSpc>
                        <a:buNone/>
                      </a:pP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r" indent="0" marL="0">
                        <a:lnSpc>
                          <a:spcPct val="140000"/>
                        </a:lnSpc>
                        <a:buNone/>
                      </a:pPr>
                      <a:r>
                        <a:rPr lang="en-US" sz="1200" b="1" dirty="0">
                          <a:solidFill>
                            <a:srgbClr val="19161F"/>
                          </a:solidFill>
                          <a:latin typeface="Arial" pitchFamily="34" charset="0"/>
                          <a:ea typeface="Arial" pitchFamily="34" charset="-122"/>
                          <a:cs typeface="Arial" pitchFamily="34" charset="-120"/>
                        </a:rPr>
                        <a:t>8.2 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r" indent="0" marL="0">
                        <a:lnSpc>
                          <a:spcPct val="140000"/>
                        </a:lnSpc>
                        <a:buNone/>
                      </a:pP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r" indent="0" marL="0">
                        <a:lnSpc>
                          <a:spcPct val="140000"/>
                        </a:lnSpc>
                        <a:buNone/>
                      </a:pP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r" indent="0" marL="0">
                        <a:lnSpc>
                          <a:spcPct val="140000"/>
                        </a:lnSpc>
                        <a:buNone/>
                      </a:pPr>
                      <a:r>
                        <a:rPr lang="en-US" sz="1200" b="1" dirty="0">
                          <a:solidFill>
                            <a:srgbClr val="19161F"/>
                          </a:solidFill>
                          <a:latin typeface="Arial" pitchFamily="34" charset="0"/>
                          <a:ea typeface="Arial" pitchFamily="34" charset="-122"/>
                          <a:cs typeface="Arial" pitchFamily="34" charset="-120"/>
                        </a:rPr>
                        <a:t>₹3.77 Cr</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7F5FA"/>
                    </a:solidFill>
                  </a:tcPr>
                </a:tc>
              </a:tr>
            </a:tbl>
          </a:graphicData>
        </a:graphic>
      </p:graphicFrame>
      <p:sp>
        <p:nvSpPr>
          <p:cNvPr id="3"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Open access saves ₹3.8 Cr a year across six sites</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09600" y="1828800"/>
          <a:ext cx="10972800" cy="914400"/>
        </p:xfrm>
        <a:graphic>
          <a:graphicData uri="http://schemas.openxmlformats.org/drawingml/2006/table">
            <a:tbl>
              <a:tblPr/>
              <a:tblGrid>
                <a:gridCol w="2159000"/>
                <a:gridCol w="2159000"/>
                <a:gridCol w="1651000"/>
                <a:gridCol w="1905000"/>
                <a:gridCol w="3098800"/>
              </a:tblGrid>
              <a:tr h="0">
                <a:tc>
                  <a:txBody>
                    <a:bodyPr/>
                    <a:lstStyle/>
                    <a:p>
                      <a:pPr algn="l" indent="0" marL="0">
                        <a:lnSpc>
                          <a:spcPct val="135000"/>
                        </a:lnSpc>
                        <a:buNone/>
                      </a:pPr>
                      <a:r>
                        <a:rPr lang="en-US" sz="1600" b="1" dirty="0">
                          <a:solidFill>
                            <a:srgbClr val="5F5A68"/>
                          </a:solidFill>
                          <a:latin typeface="Arial" pitchFamily="34" charset="0"/>
                          <a:ea typeface="Arial" pitchFamily="34" charset="-122"/>
                          <a:cs typeface="Arial" pitchFamily="34" charset="-120"/>
                        </a:rPr>
                        <a:t>Contract</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b="1" dirty="0">
                          <a:solidFill>
                            <a:srgbClr val="5F5A68"/>
                          </a:solidFill>
                          <a:latin typeface="Arial" pitchFamily="34" charset="0"/>
                          <a:ea typeface="Arial" pitchFamily="34" charset="-122"/>
                          <a:cs typeface="Arial" pitchFamily="34" charset="-120"/>
                        </a:rPr>
                        <a:t>Length</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b="1" dirty="0">
                          <a:solidFill>
                            <a:srgbClr val="5F5A68"/>
                          </a:solidFill>
                          <a:latin typeface="Arial" pitchFamily="34" charset="0"/>
                          <a:ea typeface="Arial" pitchFamily="34" charset="-122"/>
                          <a:cs typeface="Arial" pitchFamily="34" charset="-120"/>
                        </a:rPr>
                        <a:t>Investment</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b="1" dirty="0">
                          <a:solidFill>
                            <a:srgbClr val="5F5A68"/>
                          </a:solidFill>
                          <a:latin typeface="Arial" pitchFamily="34" charset="0"/>
                          <a:ea typeface="Arial" pitchFamily="34" charset="-122"/>
                          <a:cs typeface="Arial" pitchFamily="34" charset="-120"/>
                        </a:rPr>
                        <a:t>₹ per kWh</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b="1" dirty="0">
                          <a:solidFill>
                            <a:srgbClr val="5F5A68"/>
                          </a:solidFill>
                          <a:latin typeface="Arial" pitchFamily="34" charset="0"/>
                          <a:ea typeface="Arial" pitchFamily="34" charset="-122"/>
                          <a:cs typeface="Arial" pitchFamily="34" charset="-120"/>
                        </a:rPr>
                        <a:t>Best for</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Exchange</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Day to day</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None</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Market price</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Trying open access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Short term</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3 months to 1 year</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None</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7.0–8.0</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Flexible needs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r>
              <a:tr h="0">
                <a:tc>
                  <a:txBody>
                    <a:bodyPr/>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Medium term</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0E6FF"/>
                    </a:solidFill>
                  </a:tcPr>
                </a:tc>
                <a:tc>
                  <a:txBody>
                    <a:bodyPr/>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3 to 5 years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0E6FF"/>
                    </a:solidFill>
                  </a:tcPr>
                </a:tc>
                <a:tc>
                  <a:txBody>
                    <a:bodyPr/>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None</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0E6FF"/>
                    </a:solidFill>
                  </a:tcPr>
                </a:tc>
                <a:tc>
                  <a:txBody>
                    <a:bodyPr/>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6.5–7.2</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0E6FF"/>
                    </a:solidFill>
                  </a:tcPr>
                </a:tc>
                <a:tc>
                  <a:txBody>
                    <a:bodyPr/>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Most offices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0E6FF"/>
                    </a:solidFill>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Long term</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10 to 15 years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Optional</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5.8–6.6</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Lowest price per unit</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tcPr>
                </a:tc>
              </a:tr>
              <a:tr h="0">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Group captive</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20 to 25 years</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26% equity</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5.5–6.7</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c>
                  <a:txBody>
                    <a:bodyPr/>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Large, steady demand</a:t>
                      </a:r>
                      <a:endParaRPr lang="en-US" sz="1600" dirty="0">
                        <a:latin typeface="Arial" charset="0"/>
                        <a:ea typeface="Arial" charset="0"/>
                        <a:cs typeface="Arial" charset="0"/>
                      </a:endParaRPr>
                    </a:p>
                  </a:txBody>
                  <a:tcPr marL="152400" marR="152400" marT="139700" marB="139700" anchor="ctr">
                    <a:lnL w="0" cap="flat" cmpd="sng" algn="ctr">
                      <a:noFill/>
                    </a:lnL>
                    <a:lnR w="0" cap="flat" cmpd="sng" algn="ctr">
                      <a:noFill/>
                    </a:lnR>
                    <a:lnT w="0" cap="flat" cmpd="sng" algn="ctr">
                      <a:noFill/>
                    </a:lnT>
                    <a:lnB w="0" cap="flat" cmpd="sng" algn="ctr">
                      <a:noFill/>
                    </a:lnB>
                    <a:solidFill>
                      <a:srgbClr val="F7F5FA"/>
                    </a:solidFill>
                  </a:tcPr>
                </a:tc>
              </a:tr>
            </a:tbl>
          </a:graphicData>
        </a:graphic>
      </p:graphicFrame>
      <p:sp>
        <p:nvSpPr>
          <p:cNvPr id="3"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Pick the contract length that suits your plans</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09600" y="1727200"/>
            <a:ext cx="10287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20</a:t>
            </a:r>
            <a:endParaRPr lang="en-US" sz="2800" dirty="0"/>
          </a:p>
        </p:txBody>
      </p:sp>
      <p:sp>
        <p:nvSpPr>
          <p:cNvPr id="3" name="Text 1"/>
          <p:cNvSpPr txBox="1"/>
          <p:nvPr/>
        </p:nvSpPr>
        <p:spPr>
          <a:xfrm>
            <a:off x="1320800" y="1828800"/>
            <a:ext cx="17018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sites checked</a:t>
            </a:r>
            <a:endParaRPr lang="en-US" sz="1600" dirty="0"/>
          </a:p>
        </p:txBody>
      </p:sp>
      <p:sp>
        <p:nvSpPr>
          <p:cNvPr id="4" name="Text 2"/>
          <p:cNvSpPr txBox="1"/>
          <p:nvPr/>
        </p:nvSpPr>
        <p:spPr>
          <a:xfrm>
            <a:off x="3390900" y="1727200"/>
            <a:ext cx="1028700" cy="457200"/>
          </a:xfrm>
          <a:prstGeom prst="rect">
            <a:avLst/>
          </a:prstGeom>
          <a:noFill/>
          <a:ln/>
        </p:spPr>
        <p:txBody>
          <a:bodyPr wrap="square" lIns="0" tIns="0" rIns="0" bIns="0" rtlCol="0" anchor="t"/>
          <a:lstStyle/>
          <a:p>
            <a:pPr algn="l" indent="0" marL="0">
              <a:lnSpc>
                <a:spcPct val="115000"/>
              </a:lnSpc>
              <a:buNone/>
            </a:pPr>
            <a:r>
              <a:rPr lang="en-US" sz="2800" b="1" dirty="0">
                <a:solidFill>
                  <a:srgbClr val="7E22FF"/>
                </a:solidFill>
                <a:latin typeface="Arial" pitchFamily="34" charset="0"/>
                <a:ea typeface="Arial" pitchFamily="34" charset="-122"/>
                <a:cs typeface="Arial" pitchFamily="34" charset="-120"/>
              </a:rPr>
              <a:t>8</a:t>
            </a:r>
            <a:endParaRPr lang="en-US" sz="2800" dirty="0"/>
          </a:p>
        </p:txBody>
      </p:sp>
      <p:sp>
        <p:nvSpPr>
          <p:cNvPr id="5" name="Text 3"/>
          <p:cNvSpPr txBox="1"/>
          <p:nvPr/>
        </p:nvSpPr>
        <p:spPr>
          <a:xfrm>
            <a:off x="4102100" y="1828800"/>
            <a:ext cx="17018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ready to switch</a:t>
            </a:r>
            <a:endParaRPr lang="en-US" sz="1600" dirty="0"/>
          </a:p>
        </p:txBody>
      </p:sp>
      <p:sp>
        <p:nvSpPr>
          <p:cNvPr id="6" name="Text 4"/>
          <p:cNvSpPr txBox="1"/>
          <p:nvPr/>
        </p:nvSpPr>
        <p:spPr>
          <a:xfrm>
            <a:off x="6172200" y="1727200"/>
            <a:ext cx="1028700" cy="457200"/>
          </a:xfrm>
          <a:prstGeom prst="rect">
            <a:avLst/>
          </a:prstGeom>
          <a:noFill/>
          <a:ln/>
        </p:spPr>
        <p:txBody>
          <a:bodyPr wrap="square" lIns="0" tIns="0" rIns="0" bIns="0" rtlCol="0" anchor="t"/>
          <a:lstStyle/>
          <a:p>
            <a:pPr algn="l" indent="0" marL="0">
              <a:lnSpc>
                <a:spcPct val="115000"/>
              </a:lnSpc>
              <a:buNone/>
            </a:pPr>
            <a:r>
              <a:rPr lang="en-US" sz="2800" b="1" dirty="0">
                <a:solidFill>
                  <a:srgbClr val="5F5A68"/>
                </a:solidFill>
                <a:latin typeface="Arial" pitchFamily="34" charset="0"/>
                <a:ea typeface="Arial" pitchFamily="34" charset="-122"/>
                <a:cs typeface="Arial" pitchFamily="34" charset="-120"/>
              </a:rPr>
              <a:t>12</a:t>
            </a:r>
            <a:endParaRPr lang="en-US" sz="2800" dirty="0"/>
          </a:p>
        </p:txBody>
      </p:sp>
      <p:sp>
        <p:nvSpPr>
          <p:cNvPr id="7" name="Text 5"/>
          <p:cNvSpPr txBox="1"/>
          <p:nvPr/>
        </p:nvSpPr>
        <p:spPr>
          <a:xfrm>
            <a:off x="6883400" y="1828800"/>
            <a:ext cx="17018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not yet</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09600" y="2438400"/>
          <a:ext cx="10972800" cy="914400"/>
        </p:xfrm>
        <a:graphic>
          <a:graphicData uri="http://schemas.openxmlformats.org/drawingml/2006/table">
            <a:tbl>
              <a:tblPr/>
              <a:tblGrid>
                <a:gridCol w="2413000"/>
                <a:gridCol w="1651000"/>
                <a:gridCol w="1651000"/>
                <a:gridCol w="1397000"/>
                <a:gridCol w="3860800"/>
              </a:tblGrid>
              <a:tr h="0">
                <a:tc>
                  <a:txBody>
                    <a:bodyPr/>
                    <a:lstStyle/>
                    <a:p>
                      <a:pPr algn="l" indent="0" marL="0">
                        <a:lnSpc>
                          <a:spcPct val="140000"/>
                        </a:lnSpc>
                        <a:buNone/>
                      </a:pPr>
                      <a:r>
                        <a:rPr lang="en-US" sz="1200" b="1" dirty="0">
                          <a:solidFill>
                            <a:srgbClr val="5F5A68"/>
                          </a:solidFill>
                          <a:latin typeface="Arial" pitchFamily="34" charset="0"/>
                          <a:ea typeface="Arial" pitchFamily="34" charset="-122"/>
                          <a:cs typeface="Arial" pitchFamily="34" charset="-120"/>
                        </a:rPr>
                        <a:t>Site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b="1" dirty="0">
                          <a:solidFill>
                            <a:srgbClr val="5F5A68"/>
                          </a:solidFill>
                          <a:latin typeface="Arial" pitchFamily="34" charset="0"/>
                          <a:ea typeface="Arial" pitchFamily="34" charset="-122"/>
                          <a:cs typeface="Arial" pitchFamily="34" charset="-120"/>
                        </a:rPr>
                        <a:t>State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b="1" dirty="0">
                          <a:solidFill>
                            <a:srgbClr val="5F5A68"/>
                          </a:solidFill>
                          <a:latin typeface="Arial" pitchFamily="34" charset="0"/>
                          <a:ea typeface="Arial" pitchFamily="34" charset="-122"/>
                          <a:cs typeface="Arial" pitchFamily="34" charset="-120"/>
                        </a:rPr>
                        <a:t>DISCOM</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b="1" dirty="0">
                          <a:solidFill>
                            <a:srgbClr val="5F5A68"/>
                          </a:solidFill>
                          <a:latin typeface="Arial" pitchFamily="34" charset="0"/>
                          <a:ea typeface="Arial" pitchFamily="34" charset="-122"/>
                          <a:cs typeface="Arial" pitchFamily="34" charset="-120"/>
                        </a:rPr>
                        <a:t>Ready</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b="1" dirty="0">
                          <a:solidFill>
                            <a:srgbClr val="5F5A68"/>
                          </a:solidFill>
                          <a:latin typeface="Arial" pitchFamily="34" charset="0"/>
                          <a:ea typeface="Arial" pitchFamily="34" charset="-122"/>
                          <a:cs typeface="Arial" pitchFamily="34" charset="-120"/>
                        </a:rPr>
                        <a:t>Why not yet</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Pune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Maharashtra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MSEDCL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b="1" dirty="0">
                          <a:solidFill>
                            <a:srgbClr val="7E22FF"/>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Ahmedabad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Gujarat</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Torrent Power</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b="1" dirty="0">
                          <a:solidFill>
                            <a:srgbClr val="7E22FF"/>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Chennai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Tamil Nadu</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TNPDCL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b="1" dirty="0">
                          <a:solidFill>
                            <a:srgbClr val="7E22FF"/>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Nashik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Maharashtra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MSEDCL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Not yet</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Consumption too low for open access</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Mumbai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Maharashtra</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BEST</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Not yet</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DISCOM doesn’t allow open access</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E6E2EC"/>
                      </a:solidFill>
                      <a:prstDash val="solid"/>
                      <a:round/>
                      <a:headEnd type="none" w="med" len="med"/>
                      <a:tailEnd type="none" w="med" len="med"/>
                    </a:lnB>
                  </a:tcPr>
                </a:tc>
              </a:tr>
              <a:tr h="0">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Kolkata office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West Bengal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WBSEDCL</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Not yet</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c>
                  <a:txBody>
                    <a:bodyPr/>
                    <a:lstStyle/>
                    <a:p>
                      <a:pPr algn="l" indent="0" marL="0">
                        <a:lnSpc>
                          <a:spcPct val="140000"/>
                        </a:lnSpc>
                        <a:buNone/>
                      </a:pPr>
                      <a:r>
                        <a:rPr lang="en-US" sz="1200" dirty="0">
                          <a:solidFill>
                            <a:srgbClr val="19161F"/>
                          </a:solidFill>
                          <a:latin typeface="Arial" pitchFamily="34" charset="0"/>
                          <a:ea typeface="Arial" pitchFamily="34" charset="-122"/>
                          <a:cs typeface="Arial" pitchFamily="34" charset="-120"/>
                        </a:rPr>
                        <a:t>State rules not yet favourable</a:t>
                      </a:r>
                      <a:endParaRPr lang="en-US" sz="1200" dirty="0">
                        <a:latin typeface="Arial" charset="0"/>
                        <a:ea typeface="Arial" charset="0"/>
                        <a:cs typeface="Arial" charset="0"/>
                      </a:endParaRPr>
                    </a:p>
                  </a:txBody>
                  <a:tcPr marL="152400" marR="152400" marT="114300" marB="114300" anchor="ctr">
                    <a:lnL w="0" cap="flat" cmpd="sng" algn="ctr">
                      <a:noFill/>
                    </a:lnL>
                    <a:lnR w="0" cap="flat" cmpd="sng" algn="ctr">
                      <a:noFill/>
                    </a:lnR>
                    <a:lnT w="0" cap="flat" cmpd="sng" algn="ctr">
                      <a:noFill/>
                    </a:lnT>
                    <a:lnB w="0" cap="flat" cmpd="sng" algn="ctr">
                      <a:noFill/>
                    </a:lnB>
                  </a:tcPr>
                </a:tc>
              </a:tr>
            </a:tbl>
          </a:graphicData>
        </a:graphic>
      </p:graphicFrame>
      <p:sp>
        <p:nvSpPr>
          <p:cNvPr id="9"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8 of your 20 sites can switch to open access now</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09600" y="1778000"/>
            <a:ext cx="3556000" cy="254000"/>
          </a:xfrm>
          <a:prstGeom prst="rect">
            <a:avLst/>
          </a:prstGeom>
          <a:noFill/>
          <a:ln/>
        </p:spPr>
        <p:txBody>
          <a:bodyPr wrap="square" lIns="0" tIns="0" rIns="0" bIns="0" rtlCol="0" anchor="t"/>
          <a:lstStyle/>
          <a:p>
            <a:pPr algn="l" indent="0" marL="0">
              <a:lnSpc>
                <a:spcPct val="140000"/>
              </a:lnSpc>
              <a:buNone/>
            </a:pPr>
            <a:r>
              <a:rPr lang="en-US" sz="1200" b="1" dirty="0">
                <a:solidFill>
                  <a:srgbClr val="7E22FF"/>
                </a:solidFill>
                <a:latin typeface="Arial" pitchFamily="34" charset="0"/>
                <a:ea typeface="Arial" pitchFamily="34" charset="-122"/>
                <a:cs typeface="Arial" pitchFamily="34" charset="-120"/>
              </a:rPr>
              <a:t>Recommended</a:t>
            </a:r>
            <a:endParaRPr lang="en-US" sz="1200" dirty="0"/>
          </a:p>
        </p:txBody>
      </p:sp>
      <p:sp>
        <p:nvSpPr>
          <p:cNvPr id="3" name="Shape 1"/>
          <p:cNvSpPr/>
          <p:nvPr/>
        </p:nvSpPr>
        <p:spPr>
          <a:xfrm>
            <a:off x="609600" y="2133600"/>
            <a:ext cx="3556000" cy="3556000"/>
          </a:xfrm>
          <a:prstGeom prst="rect">
            <a:avLst/>
          </a:prstGeom>
          <a:solidFill>
            <a:srgbClr val="FFFFFF"/>
          </a:solidFill>
          <a:ln w="25400">
            <a:solidFill>
              <a:srgbClr val="7E22FF"/>
            </a:solidFill>
            <a:prstDash val="solid"/>
          </a:ln>
        </p:spPr>
      </p:sp>
      <p:sp>
        <p:nvSpPr>
          <p:cNvPr id="4" name="Text 2"/>
          <p:cNvSpPr txBox="1"/>
          <p:nvPr/>
        </p:nvSpPr>
        <p:spPr>
          <a:xfrm>
            <a:off x="863600" y="2387600"/>
            <a:ext cx="3048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Group captive</a:t>
            </a:r>
            <a:endParaRPr lang="en-US" sz="1600" dirty="0"/>
          </a:p>
        </p:txBody>
      </p:sp>
      <p:sp>
        <p:nvSpPr>
          <p:cNvPr id="5" name="Text 3"/>
          <p:cNvSpPr txBox="1"/>
          <p:nvPr/>
        </p:nvSpPr>
        <p:spPr>
          <a:xfrm>
            <a:off x="863600" y="2692400"/>
            <a:ext cx="3048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Solar and wind hybrid</a:t>
            </a:r>
            <a:endParaRPr lang="en-US" sz="1600" dirty="0"/>
          </a:p>
        </p:txBody>
      </p:sp>
      <p:sp>
        <p:nvSpPr>
          <p:cNvPr id="6" name="Text 4"/>
          <p:cNvSpPr txBox="1"/>
          <p:nvPr/>
        </p:nvSpPr>
        <p:spPr>
          <a:xfrm>
            <a:off x="863600" y="3200400"/>
            <a:ext cx="3048000" cy="457200"/>
          </a:xfrm>
          <a:prstGeom prst="rect">
            <a:avLst/>
          </a:prstGeom>
          <a:noFill/>
          <a:ln/>
        </p:spPr>
        <p:txBody>
          <a:bodyPr wrap="square" lIns="0" tIns="0" rIns="0" bIns="0" rtlCol="0" anchor="t"/>
          <a:lstStyle/>
          <a:p>
            <a:pPr algn="l" indent="0" marL="0">
              <a:lnSpc>
                <a:spcPct val="115000"/>
              </a:lnSpc>
              <a:buNone/>
            </a:pPr>
            <a:r>
              <a:rPr lang="en-US" sz="2800" b="1" dirty="0">
                <a:solidFill>
                  <a:srgbClr val="7E22FF"/>
                </a:solidFill>
                <a:latin typeface="Arial" pitchFamily="34" charset="0"/>
                <a:ea typeface="Arial" pitchFamily="34" charset="-122"/>
                <a:cs typeface="Arial" pitchFamily="34" charset="-120"/>
              </a:rPr>
              <a:t>6.55–6.69</a:t>
            </a:r>
            <a:endParaRPr lang="en-US" sz="2800" dirty="0"/>
          </a:p>
        </p:txBody>
      </p:sp>
      <p:sp>
        <p:nvSpPr>
          <p:cNvPr id="7" name="Text 5"/>
          <p:cNvSpPr txBox="1"/>
          <p:nvPr/>
        </p:nvSpPr>
        <p:spPr>
          <a:xfrm>
            <a:off x="863600" y="3657600"/>
            <a:ext cx="3048000" cy="254000"/>
          </a:xfrm>
          <a:prstGeom prst="rect">
            <a:avLst/>
          </a:prstGeom>
          <a:noFill/>
          <a:ln/>
        </p:spPr>
        <p:txBody>
          <a:bodyPr wrap="square" lIns="0" tIns="0" rIns="0" bIns="0" rtlCol="0" anchor="t"/>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Landed tariff, ₹ per kWh</a:t>
            </a:r>
            <a:endParaRPr lang="en-US" sz="1200" dirty="0"/>
          </a:p>
        </p:txBody>
      </p:sp>
      <p:sp>
        <p:nvSpPr>
          <p:cNvPr id="8" name="Shape 6"/>
          <p:cNvSpPr/>
          <p:nvPr/>
        </p:nvSpPr>
        <p:spPr>
          <a:xfrm>
            <a:off x="863600" y="4064000"/>
            <a:ext cx="3048000" cy="12700"/>
          </a:xfrm>
          <a:prstGeom prst="rect">
            <a:avLst/>
          </a:prstGeom>
          <a:solidFill>
            <a:srgbClr val="E6E2EC"/>
          </a:solidFill>
          <a:ln/>
        </p:spPr>
      </p:sp>
      <p:sp>
        <p:nvSpPr>
          <p:cNvPr id="9" name="Text 7"/>
          <p:cNvSpPr txBox="1"/>
          <p:nvPr/>
        </p:nvSpPr>
        <p:spPr>
          <a:xfrm>
            <a:off x="863600" y="4140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PPA tariff</a:t>
            </a:r>
            <a:endParaRPr lang="en-US" sz="1600" dirty="0"/>
          </a:p>
        </p:txBody>
      </p:sp>
      <p:sp>
        <p:nvSpPr>
          <p:cNvPr id="10" name="Text 8"/>
          <p:cNvSpPr txBox="1"/>
          <p:nvPr/>
        </p:nvSpPr>
        <p:spPr>
          <a:xfrm>
            <a:off x="2235200" y="4140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₹4.00</a:t>
            </a:r>
            <a:endParaRPr lang="en-US" sz="1600" dirty="0"/>
          </a:p>
        </p:txBody>
      </p:sp>
      <p:sp>
        <p:nvSpPr>
          <p:cNvPr id="11" name="Shape 9"/>
          <p:cNvSpPr/>
          <p:nvPr/>
        </p:nvSpPr>
        <p:spPr>
          <a:xfrm>
            <a:off x="863600" y="4445000"/>
            <a:ext cx="3048000" cy="12700"/>
          </a:xfrm>
          <a:prstGeom prst="rect">
            <a:avLst/>
          </a:prstGeom>
          <a:solidFill>
            <a:srgbClr val="E6E2EC"/>
          </a:solidFill>
          <a:ln/>
        </p:spPr>
      </p:sp>
      <p:sp>
        <p:nvSpPr>
          <p:cNvPr id="12" name="Text 10"/>
          <p:cNvSpPr txBox="1"/>
          <p:nvPr/>
        </p:nvSpPr>
        <p:spPr>
          <a:xfrm>
            <a:off x="863600" y="4521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Annual saving</a:t>
            </a:r>
            <a:endParaRPr lang="en-US" sz="1600" dirty="0"/>
          </a:p>
        </p:txBody>
      </p:sp>
      <p:sp>
        <p:nvSpPr>
          <p:cNvPr id="13" name="Text 11"/>
          <p:cNvSpPr txBox="1"/>
          <p:nvPr/>
        </p:nvSpPr>
        <p:spPr>
          <a:xfrm>
            <a:off x="2235200" y="4521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₹3.3 Cr</a:t>
            </a:r>
            <a:endParaRPr lang="en-US" sz="1600" dirty="0"/>
          </a:p>
        </p:txBody>
      </p:sp>
      <p:sp>
        <p:nvSpPr>
          <p:cNvPr id="14" name="Shape 12"/>
          <p:cNvSpPr/>
          <p:nvPr/>
        </p:nvSpPr>
        <p:spPr>
          <a:xfrm>
            <a:off x="863600" y="4826000"/>
            <a:ext cx="3048000" cy="12700"/>
          </a:xfrm>
          <a:prstGeom prst="rect">
            <a:avLst/>
          </a:prstGeom>
          <a:solidFill>
            <a:srgbClr val="E6E2EC"/>
          </a:solidFill>
          <a:ln/>
        </p:spPr>
      </p:sp>
      <p:sp>
        <p:nvSpPr>
          <p:cNvPr id="15" name="Text 13"/>
          <p:cNvSpPr txBox="1"/>
          <p:nvPr/>
        </p:nvSpPr>
        <p:spPr>
          <a:xfrm>
            <a:off x="863600" y="4902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Investment</a:t>
            </a:r>
            <a:endParaRPr lang="en-US" sz="1600" dirty="0"/>
          </a:p>
        </p:txBody>
      </p:sp>
      <p:sp>
        <p:nvSpPr>
          <p:cNvPr id="16" name="Text 14"/>
          <p:cNvSpPr txBox="1"/>
          <p:nvPr/>
        </p:nvSpPr>
        <p:spPr>
          <a:xfrm>
            <a:off x="2235200" y="4902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₹1.2 Cr equity</a:t>
            </a:r>
            <a:endParaRPr lang="en-US" sz="1600" dirty="0"/>
          </a:p>
        </p:txBody>
      </p:sp>
      <p:sp>
        <p:nvSpPr>
          <p:cNvPr id="17" name="Shape 15"/>
          <p:cNvSpPr/>
          <p:nvPr/>
        </p:nvSpPr>
        <p:spPr>
          <a:xfrm>
            <a:off x="863600" y="5207000"/>
            <a:ext cx="3048000" cy="12700"/>
          </a:xfrm>
          <a:prstGeom prst="rect">
            <a:avLst/>
          </a:prstGeom>
          <a:solidFill>
            <a:srgbClr val="E6E2EC"/>
          </a:solidFill>
          <a:ln/>
        </p:spPr>
      </p:sp>
      <p:sp>
        <p:nvSpPr>
          <p:cNvPr id="18" name="Text 16"/>
          <p:cNvSpPr txBox="1"/>
          <p:nvPr/>
        </p:nvSpPr>
        <p:spPr>
          <a:xfrm>
            <a:off x="863600" y="5283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Term</a:t>
            </a:r>
            <a:endParaRPr lang="en-US" sz="1600" dirty="0"/>
          </a:p>
        </p:txBody>
      </p:sp>
      <p:sp>
        <p:nvSpPr>
          <p:cNvPr id="19" name="Text 17"/>
          <p:cNvSpPr txBox="1"/>
          <p:nvPr/>
        </p:nvSpPr>
        <p:spPr>
          <a:xfrm>
            <a:off x="2235200" y="5283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25 years</a:t>
            </a:r>
            <a:endParaRPr lang="en-US" sz="1600" dirty="0"/>
          </a:p>
        </p:txBody>
      </p:sp>
      <p:sp>
        <p:nvSpPr>
          <p:cNvPr id="20" name="Shape 18"/>
          <p:cNvSpPr/>
          <p:nvPr/>
        </p:nvSpPr>
        <p:spPr>
          <a:xfrm>
            <a:off x="4318000" y="2133600"/>
            <a:ext cx="3556000" cy="3556000"/>
          </a:xfrm>
          <a:prstGeom prst="rect">
            <a:avLst/>
          </a:prstGeom>
          <a:solidFill>
            <a:srgbClr val="F7F5FA"/>
          </a:solidFill>
          <a:ln/>
        </p:spPr>
      </p:sp>
      <p:sp>
        <p:nvSpPr>
          <p:cNvPr id="21" name="Text 19"/>
          <p:cNvSpPr txBox="1"/>
          <p:nvPr/>
        </p:nvSpPr>
        <p:spPr>
          <a:xfrm>
            <a:off x="4572000" y="2387600"/>
            <a:ext cx="3048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Third party</a:t>
            </a:r>
            <a:endParaRPr lang="en-US" sz="1600" dirty="0"/>
          </a:p>
        </p:txBody>
      </p:sp>
      <p:sp>
        <p:nvSpPr>
          <p:cNvPr id="22" name="Text 20"/>
          <p:cNvSpPr txBox="1"/>
          <p:nvPr/>
        </p:nvSpPr>
        <p:spPr>
          <a:xfrm>
            <a:off x="4572000" y="2692400"/>
            <a:ext cx="3048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Solar</a:t>
            </a:r>
            <a:endParaRPr lang="en-US" sz="1600" dirty="0"/>
          </a:p>
        </p:txBody>
      </p:sp>
      <p:sp>
        <p:nvSpPr>
          <p:cNvPr id="23" name="Text 21"/>
          <p:cNvSpPr txBox="1"/>
          <p:nvPr/>
        </p:nvSpPr>
        <p:spPr>
          <a:xfrm>
            <a:off x="4572000" y="3200400"/>
            <a:ext cx="30480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9.29–12.22</a:t>
            </a:r>
            <a:endParaRPr lang="en-US" sz="2800" dirty="0"/>
          </a:p>
        </p:txBody>
      </p:sp>
      <p:sp>
        <p:nvSpPr>
          <p:cNvPr id="24" name="Text 22"/>
          <p:cNvSpPr txBox="1"/>
          <p:nvPr/>
        </p:nvSpPr>
        <p:spPr>
          <a:xfrm>
            <a:off x="4572000" y="3657600"/>
            <a:ext cx="3048000" cy="254000"/>
          </a:xfrm>
          <a:prstGeom prst="rect">
            <a:avLst/>
          </a:prstGeom>
          <a:noFill/>
          <a:ln/>
        </p:spPr>
        <p:txBody>
          <a:bodyPr wrap="square" lIns="0" tIns="0" rIns="0" bIns="0" rtlCol="0" anchor="t"/>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Landed tariff, ₹ per kWh</a:t>
            </a:r>
            <a:endParaRPr lang="en-US" sz="1200" dirty="0"/>
          </a:p>
        </p:txBody>
      </p:sp>
      <p:sp>
        <p:nvSpPr>
          <p:cNvPr id="25" name="Shape 23"/>
          <p:cNvSpPr/>
          <p:nvPr/>
        </p:nvSpPr>
        <p:spPr>
          <a:xfrm>
            <a:off x="4572000" y="4064000"/>
            <a:ext cx="3048000" cy="12700"/>
          </a:xfrm>
          <a:prstGeom prst="rect">
            <a:avLst/>
          </a:prstGeom>
          <a:solidFill>
            <a:srgbClr val="E6E2EC"/>
          </a:solidFill>
          <a:ln/>
        </p:spPr>
      </p:sp>
      <p:sp>
        <p:nvSpPr>
          <p:cNvPr id="26" name="Text 24"/>
          <p:cNvSpPr txBox="1"/>
          <p:nvPr/>
        </p:nvSpPr>
        <p:spPr>
          <a:xfrm>
            <a:off x="4572000" y="4140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PPA tariff</a:t>
            </a:r>
            <a:endParaRPr lang="en-US" sz="1600" dirty="0"/>
          </a:p>
        </p:txBody>
      </p:sp>
      <p:sp>
        <p:nvSpPr>
          <p:cNvPr id="27" name="Text 25"/>
          <p:cNvSpPr txBox="1"/>
          <p:nvPr/>
        </p:nvSpPr>
        <p:spPr>
          <a:xfrm>
            <a:off x="5943600" y="4140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₹4.00</a:t>
            </a:r>
            <a:endParaRPr lang="en-US" sz="1600" dirty="0"/>
          </a:p>
        </p:txBody>
      </p:sp>
      <p:sp>
        <p:nvSpPr>
          <p:cNvPr id="28" name="Shape 26"/>
          <p:cNvSpPr/>
          <p:nvPr/>
        </p:nvSpPr>
        <p:spPr>
          <a:xfrm>
            <a:off x="4572000" y="4445000"/>
            <a:ext cx="3048000" cy="12700"/>
          </a:xfrm>
          <a:prstGeom prst="rect">
            <a:avLst/>
          </a:prstGeom>
          <a:solidFill>
            <a:srgbClr val="E6E2EC"/>
          </a:solidFill>
          <a:ln/>
        </p:spPr>
      </p:sp>
      <p:sp>
        <p:nvSpPr>
          <p:cNvPr id="29" name="Text 27"/>
          <p:cNvSpPr txBox="1"/>
          <p:nvPr/>
        </p:nvSpPr>
        <p:spPr>
          <a:xfrm>
            <a:off x="4572000" y="4521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Annual saving</a:t>
            </a:r>
            <a:endParaRPr lang="en-US" sz="1600" dirty="0"/>
          </a:p>
        </p:txBody>
      </p:sp>
      <p:sp>
        <p:nvSpPr>
          <p:cNvPr id="30" name="Text 28"/>
          <p:cNvSpPr txBox="1"/>
          <p:nvPr/>
        </p:nvSpPr>
        <p:spPr>
          <a:xfrm>
            <a:off x="5943600" y="4521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₹0.7 Cr</a:t>
            </a:r>
            <a:endParaRPr lang="en-US" sz="1600" dirty="0"/>
          </a:p>
        </p:txBody>
      </p:sp>
      <p:sp>
        <p:nvSpPr>
          <p:cNvPr id="31" name="Shape 29"/>
          <p:cNvSpPr/>
          <p:nvPr/>
        </p:nvSpPr>
        <p:spPr>
          <a:xfrm>
            <a:off x="4572000" y="4826000"/>
            <a:ext cx="3048000" cy="12700"/>
          </a:xfrm>
          <a:prstGeom prst="rect">
            <a:avLst/>
          </a:prstGeom>
          <a:solidFill>
            <a:srgbClr val="E6E2EC"/>
          </a:solidFill>
          <a:ln/>
        </p:spPr>
      </p:sp>
      <p:sp>
        <p:nvSpPr>
          <p:cNvPr id="32" name="Text 30"/>
          <p:cNvSpPr txBox="1"/>
          <p:nvPr/>
        </p:nvSpPr>
        <p:spPr>
          <a:xfrm>
            <a:off x="4572000" y="4902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Investment</a:t>
            </a:r>
            <a:endParaRPr lang="en-US" sz="1600" dirty="0"/>
          </a:p>
        </p:txBody>
      </p:sp>
      <p:sp>
        <p:nvSpPr>
          <p:cNvPr id="33" name="Text 31"/>
          <p:cNvSpPr txBox="1"/>
          <p:nvPr/>
        </p:nvSpPr>
        <p:spPr>
          <a:xfrm>
            <a:off x="5943600" y="4902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None</a:t>
            </a:r>
            <a:endParaRPr lang="en-US" sz="1600" dirty="0"/>
          </a:p>
        </p:txBody>
      </p:sp>
      <p:sp>
        <p:nvSpPr>
          <p:cNvPr id="34" name="Shape 32"/>
          <p:cNvSpPr/>
          <p:nvPr/>
        </p:nvSpPr>
        <p:spPr>
          <a:xfrm>
            <a:off x="4572000" y="5207000"/>
            <a:ext cx="3048000" cy="12700"/>
          </a:xfrm>
          <a:prstGeom prst="rect">
            <a:avLst/>
          </a:prstGeom>
          <a:solidFill>
            <a:srgbClr val="E6E2EC"/>
          </a:solidFill>
          <a:ln/>
        </p:spPr>
      </p:sp>
      <p:sp>
        <p:nvSpPr>
          <p:cNvPr id="35" name="Text 33"/>
          <p:cNvSpPr txBox="1"/>
          <p:nvPr/>
        </p:nvSpPr>
        <p:spPr>
          <a:xfrm>
            <a:off x="4572000" y="5283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Term</a:t>
            </a:r>
            <a:endParaRPr lang="en-US" sz="1600" dirty="0"/>
          </a:p>
        </p:txBody>
      </p:sp>
      <p:sp>
        <p:nvSpPr>
          <p:cNvPr id="36" name="Text 34"/>
          <p:cNvSpPr txBox="1"/>
          <p:nvPr/>
        </p:nvSpPr>
        <p:spPr>
          <a:xfrm>
            <a:off x="5943600" y="5283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20–25 years</a:t>
            </a:r>
            <a:endParaRPr lang="en-US" sz="1600" dirty="0"/>
          </a:p>
        </p:txBody>
      </p:sp>
      <p:sp>
        <p:nvSpPr>
          <p:cNvPr id="37" name="Shape 35"/>
          <p:cNvSpPr/>
          <p:nvPr/>
        </p:nvSpPr>
        <p:spPr>
          <a:xfrm>
            <a:off x="8026400" y="2133600"/>
            <a:ext cx="3556000" cy="3556000"/>
          </a:xfrm>
          <a:prstGeom prst="rect">
            <a:avLst/>
          </a:prstGeom>
          <a:solidFill>
            <a:srgbClr val="F7F5FA"/>
          </a:solidFill>
          <a:ln/>
        </p:spPr>
      </p:sp>
      <p:sp>
        <p:nvSpPr>
          <p:cNvPr id="38" name="Text 36"/>
          <p:cNvSpPr txBox="1"/>
          <p:nvPr/>
        </p:nvSpPr>
        <p:spPr>
          <a:xfrm>
            <a:off x="8280400" y="2387600"/>
            <a:ext cx="3048000" cy="3048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Third party</a:t>
            </a:r>
            <a:endParaRPr lang="en-US" sz="1600" dirty="0"/>
          </a:p>
        </p:txBody>
      </p:sp>
      <p:sp>
        <p:nvSpPr>
          <p:cNvPr id="39" name="Text 37"/>
          <p:cNvSpPr txBox="1"/>
          <p:nvPr/>
        </p:nvSpPr>
        <p:spPr>
          <a:xfrm>
            <a:off x="8280400" y="2692400"/>
            <a:ext cx="3048000" cy="30480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Solar and wind hybrid</a:t>
            </a:r>
            <a:endParaRPr lang="en-US" sz="1600" dirty="0"/>
          </a:p>
        </p:txBody>
      </p:sp>
      <p:sp>
        <p:nvSpPr>
          <p:cNvPr id="40" name="Text 38"/>
          <p:cNvSpPr txBox="1"/>
          <p:nvPr/>
        </p:nvSpPr>
        <p:spPr>
          <a:xfrm>
            <a:off x="8280400" y="3200400"/>
            <a:ext cx="3048000" cy="4572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9.34–11.96</a:t>
            </a:r>
            <a:endParaRPr lang="en-US" sz="2800" dirty="0"/>
          </a:p>
        </p:txBody>
      </p:sp>
      <p:sp>
        <p:nvSpPr>
          <p:cNvPr id="41" name="Text 39"/>
          <p:cNvSpPr txBox="1"/>
          <p:nvPr/>
        </p:nvSpPr>
        <p:spPr>
          <a:xfrm>
            <a:off x="8280400" y="3657600"/>
            <a:ext cx="3048000" cy="254000"/>
          </a:xfrm>
          <a:prstGeom prst="rect">
            <a:avLst/>
          </a:prstGeom>
          <a:noFill/>
          <a:ln/>
        </p:spPr>
        <p:txBody>
          <a:bodyPr wrap="square" lIns="0" tIns="0" rIns="0" bIns="0" rtlCol="0" anchor="t"/>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Landed tariff, ₹ per kWh</a:t>
            </a:r>
            <a:endParaRPr lang="en-US" sz="1200" dirty="0"/>
          </a:p>
        </p:txBody>
      </p:sp>
      <p:sp>
        <p:nvSpPr>
          <p:cNvPr id="42" name="Shape 40"/>
          <p:cNvSpPr/>
          <p:nvPr/>
        </p:nvSpPr>
        <p:spPr>
          <a:xfrm>
            <a:off x="8280400" y="4064000"/>
            <a:ext cx="3048000" cy="12700"/>
          </a:xfrm>
          <a:prstGeom prst="rect">
            <a:avLst/>
          </a:prstGeom>
          <a:solidFill>
            <a:srgbClr val="E6E2EC"/>
          </a:solidFill>
          <a:ln/>
        </p:spPr>
      </p:sp>
      <p:sp>
        <p:nvSpPr>
          <p:cNvPr id="43" name="Text 41"/>
          <p:cNvSpPr txBox="1"/>
          <p:nvPr/>
        </p:nvSpPr>
        <p:spPr>
          <a:xfrm>
            <a:off x="8280400" y="4140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PPA tariff</a:t>
            </a:r>
            <a:endParaRPr lang="en-US" sz="1600" dirty="0"/>
          </a:p>
        </p:txBody>
      </p:sp>
      <p:sp>
        <p:nvSpPr>
          <p:cNvPr id="44" name="Text 42"/>
          <p:cNvSpPr txBox="1"/>
          <p:nvPr/>
        </p:nvSpPr>
        <p:spPr>
          <a:xfrm>
            <a:off x="9652000" y="4140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₹4.00</a:t>
            </a:r>
            <a:endParaRPr lang="en-US" sz="1600" dirty="0"/>
          </a:p>
        </p:txBody>
      </p:sp>
      <p:sp>
        <p:nvSpPr>
          <p:cNvPr id="45" name="Shape 43"/>
          <p:cNvSpPr/>
          <p:nvPr/>
        </p:nvSpPr>
        <p:spPr>
          <a:xfrm>
            <a:off x="8280400" y="4445000"/>
            <a:ext cx="3048000" cy="12700"/>
          </a:xfrm>
          <a:prstGeom prst="rect">
            <a:avLst/>
          </a:prstGeom>
          <a:solidFill>
            <a:srgbClr val="E6E2EC"/>
          </a:solidFill>
          <a:ln/>
        </p:spPr>
      </p:sp>
      <p:sp>
        <p:nvSpPr>
          <p:cNvPr id="46" name="Text 44"/>
          <p:cNvSpPr txBox="1"/>
          <p:nvPr/>
        </p:nvSpPr>
        <p:spPr>
          <a:xfrm>
            <a:off x="8280400" y="4521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Annual saving</a:t>
            </a:r>
            <a:endParaRPr lang="en-US" sz="1600" dirty="0"/>
          </a:p>
        </p:txBody>
      </p:sp>
      <p:sp>
        <p:nvSpPr>
          <p:cNvPr id="47" name="Text 45"/>
          <p:cNvSpPr txBox="1"/>
          <p:nvPr/>
        </p:nvSpPr>
        <p:spPr>
          <a:xfrm>
            <a:off x="9652000" y="4521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₹1.4 Cr</a:t>
            </a:r>
            <a:endParaRPr lang="en-US" sz="1600" dirty="0"/>
          </a:p>
        </p:txBody>
      </p:sp>
      <p:sp>
        <p:nvSpPr>
          <p:cNvPr id="48" name="Shape 46"/>
          <p:cNvSpPr/>
          <p:nvPr/>
        </p:nvSpPr>
        <p:spPr>
          <a:xfrm>
            <a:off x="8280400" y="4826000"/>
            <a:ext cx="3048000" cy="12700"/>
          </a:xfrm>
          <a:prstGeom prst="rect">
            <a:avLst/>
          </a:prstGeom>
          <a:solidFill>
            <a:srgbClr val="E6E2EC"/>
          </a:solidFill>
          <a:ln/>
        </p:spPr>
      </p:sp>
      <p:sp>
        <p:nvSpPr>
          <p:cNvPr id="49" name="Text 47"/>
          <p:cNvSpPr txBox="1"/>
          <p:nvPr/>
        </p:nvSpPr>
        <p:spPr>
          <a:xfrm>
            <a:off x="8280400" y="4902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Investment</a:t>
            </a:r>
            <a:endParaRPr lang="en-US" sz="1600" dirty="0"/>
          </a:p>
        </p:txBody>
      </p:sp>
      <p:sp>
        <p:nvSpPr>
          <p:cNvPr id="50" name="Text 48"/>
          <p:cNvSpPr txBox="1"/>
          <p:nvPr/>
        </p:nvSpPr>
        <p:spPr>
          <a:xfrm>
            <a:off x="9652000" y="4902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None</a:t>
            </a:r>
            <a:endParaRPr lang="en-US" sz="1600" dirty="0"/>
          </a:p>
        </p:txBody>
      </p:sp>
      <p:sp>
        <p:nvSpPr>
          <p:cNvPr id="51" name="Shape 49"/>
          <p:cNvSpPr/>
          <p:nvPr/>
        </p:nvSpPr>
        <p:spPr>
          <a:xfrm>
            <a:off x="8280400" y="5207000"/>
            <a:ext cx="3048000" cy="12700"/>
          </a:xfrm>
          <a:prstGeom prst="rect">
            <a:avLst/>
          </a:prstGeom>
          <a:solidFill>
            <a:srgbClr val="E6E2EC"/>
          </a:solidFill>
          <a:ln/>
        </p:spPr>
      </p:sp>
      <p:sp>
        <p:nvSpPr>
          <p:cNvPr id="52" name="Text 50"/>
          <p:cNvSpPr txBox="1"/>
          <p:nvPr/>
        </p:nvSpPr>
        <p:spPr>
          <a:xfrm>
            <a:off x="8280400" y="5283200"/>
            <a:ext cx="1676400" cy="273050"/>
          </a:xfrm>
          <a:prstGeom prst="rect">
            <a:avLst/>
          </a:prstGeom>
          <a:noFill/>
          <a:ln/>
        </p:spPr>
        <p:txBody>
          <a:bodyPr wrap="square" lIns="0" tIns="0" rIns="0" bIns="0" rtlCol="0" anchor="t"/>
          <a:lstStyle/>
          <a:p>
            <a:pPr algn="l" indent="0" marL="0">
              <a:lnSpc>
                <a:spcPct val="135000"/>
              </a:lnSpc>
              <a:buNone/>
            </a:pPr>
            <a:r>
              <a:rPr lang="en-US" sz="1600" dirty="0">
                <a:solidFill>
                  <a:srgbClr val="5F5A68"/>
                </a:solidFill>
                <a:latin typeface="Arial" pitchFamily="34" charset="0"/>
                <a:ea typeface="Arial" pitchFamily="34" charset="-122"/>
                <a:cs typeface="Arial" pitchFamily="34" charset="-120"/>
              </a:rPr>
              <a:t>Term</a:t>
            </a:r>
            <a:endParaRPr lang="en-US" sz="1600" dirty="0"/>
          </a:p>
        </p:txBody>
      </p:sp>
      <p:sp>
        <p:nvSpPr>
          <p:cNvPr id="53" name="Text 51"/>
          <p:cNvSpPr txBox="1"/>
          <p:nvPr/>
        </p:nvSpPr>
        <p:spPr>
          <a:xfrm>
            <a:off x="9652000" y="5283200"/>
            <a:ext cx="1676400" cy="273050"/>
          </a:xfrm>
          <a:prstGeom prst="rect">
            <a:avLst/>
          </a:prstGeom>
          <a:noFill/>
          <a:ln/>
        </p:spPr>
        <p:txBody>
          <a:bodyPr wrap="square" lIns="0" tIns="0" rIns="0" bIns="0" rtlCol="0" anchor="t"/>
          <a:lstStyle/>
          <a:p>
            <a:pPr algn="r" indent="0" marL="0">
              <a:lnSpc>
                <a:spcPct val="135000"/>
              </a:lnSpc>
              <a:buNone/>
            </a:pPr>
            <a:r>
              <a:rPr lang="en-US" sz="1600" dirty="0">
                <a:solidFill>
                  <a:srgbClr val="19161F"/>
                </a:solidFill>
                <a:latin typeface="Arial" pitchFamily="34" charset="0"/>
                <a:ea typeface="Arial" pitchFamily="34" charset="-122"/>
                <a:cs typeface="Arial" pitchFamily="34" charset="-120"/>
              </a:rPr>
              <a:t>20–25 years</a:t>
            </a:r>
            <a:endParaRPr lang="en-US" sz="1600" dirty="0"/>
          </a:p>
        </p:txBody>
      </p:sp>
      <p:sp>
        <p:nvSpPr>
          <p:cNvPr id="54" name="Text 52"/>
          <p:cNvSpPr txBox="1"/>
          <p:nvPr/>
        </p:nvSpPr>
        <p:spPr>
          <a:xfrm>
            <a:off x="609600" y="5842000"/>
            <a:ext cx="10972800" cy="254000"/>
          </a:xfrm>
          <a:prstGeom prst="rect">
            <a:avLst/>
          </a:prstGeom>
          <a:noFill/>
          <a:ln/>
        </p:spPr>
        <p:txBody>
          <a:bodyPr wrap="square" lIns="0" tIns="0" rIns="0" bIns="0" rtlCol="0" anchor="t"/>
          <a:lstStyle/>
          <a:p>
            <a:pPr algn="l" indent="0" marL="0">
              <a:lnSpc>
                <a:spcPct val="140000"/>
              </a:lnSpc>
              <a:buNone/>
            </a:pPr>
            <a:r>
              <a:rPr lang="en-US" sz="1200" dirty="0">
                <a:solidFill>
                  <a:srgbClr val="5F5A68"/>
                </a:solidFill>
                <a:latin typeface="Arial" pitchFamily="34" charset="0"/>
                <a:ea typeface="Arial" pitchFamily="34" charset="-122"/>
                <a:cs typeface="Arial" pitchFamily="34" charset="-120"/>
              </a:rPr>
              <a:t>Indicative tariffs for discussion only, not an offer. Final tariffs depend on capacity, sites, supplier, contract and charges at signing.</a:t>
            </a:r>
            <a:endParaRPr lang="en-US" sz="1200" dirty="0"/>
          </a:p>
        </p:txBody>
      </p:sp>
      <p:sp>
        <p:nvSpPr>
          <p:cNvPr id="55"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Three ways to buy power for your Maharashtra sites</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609600" y="1828800"/>
            <a:ext cx="10972800" cy="12700"/>
          </a:xfrm>
          <a:prstGeom prst="rect">
            <a:avLst/>
          </a:prstGeom>
          <a:solidFill>
            <a:srgbClr val="E6E2EC"/>
          </a:solidFill>
          <a:ln/>
        </p:spPr>
      </p:sp>
      <p:sp>
        <p:nvSpPr>
          <p:cNvPr id="3" name="Text 1"/>
          <p:cNvSpPr txBox="1"/>
          <p:nvPr/>
        </p:nvSpPr>
        <p:spPr>
          <a:xfrm>
            <a:off x="609600" y="2082800"/>
            <a:ext cx="2628900" cy="304800"/>
          </a:xfrm>
          <a:prstGeom prst="rect">
            <a:avLst/>
          </a:prstGeom>
          <a:noFill/>
          <a:ln/>
        </p:spPr>
        <p:txBody>
          <a:bodyPr wrap="square" lIns="0" tIns="0" rIns="0" bIns="0" rtlCol="0" anchor="t"/>
          <a:lstStyle/>
          <a:p>
            <a:pPr algn="l" indent="0" marL="0">
              <a:lnSpc>
                <a:spcPct val="135000"/>
              </a:lnSpc>
              <a:buNone/>
            </a:pPr>
            <a:r>
              <a:rPr lang="en-US" sz="1600" b="1" dirty="0">
                <a:solidFill>
                  <a:srgbClr val="7E22FF"/>
                </a:solidFill>
                <a:latin typeface="Arial" pitchFamily="34" charset="0"/>
                <a:ea typeface="Arial" pitchFamily="34" charset="-122"/>
                <a:cs typeface="Arial" pitchFamily="34" charset="-120"/>
              </a:rPr>
              <a:t>This week</a:t>
            </a:r>
            <a:endParaRPr lang="en-US" sz="1600" dirty="0"/>
          </a:p>
        </p:txBody>
      </p:sp>
      <p:sp>
        <p:nvSpPr>
          <p:cNvPr id="4" name="Text 2"/>
          <p:cNvSpPr txBox="1"/>
          <p:nvPr/>
        </p:nvSpPr>
        <p:spPr>
          <a:xfrm>
            <a:off x="3390900" y="2082800"/>
            <a:ext cx="54102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Share 12 months of bills for each site</a:t>
            </a:r>
            <a:endParaRPr lang="en-US" sz="1600" dirty="0"/>
          </a:p>
        </p:txBody>
      </p:sp>
      <p:sp>
        <p:nvSpPr>
          <p:cNvPr id="5" name="Text 3"/>
          <p:cNvSpPr txBox="1"/>
          <p:nvPr/>
        </p:nvSpPr>
        <p:spPr>
          <a:xfrm>
            <a:off x="8953500" y="2082800"/>
            <a:ext cx="2628900" cy="304800"/>
          </a:xfrm>
          <a:prstGeom prst="rect">
            <a:avLst/>
          </a:prstGeom>
          <a:noFill/>
          <a:ln/>
        </p:spPr>
        <p:txBody>
          <a:bodyPr wrap="square" lIns="0" tIns="0" rIns="0" bIns="0" rtlCol="0" anchor="t"/>
          <a:lstStyle/>
          <a:p>
            <a:pPr algn="r" indent="0" marL="0">
              <a:lnSpc>
                <a:spcPct val="135000"/>
              </a:lnSpc>
              <a:buNone/>
            </a:pPr>
            <a:r>
              <a:rPr lang="en-US" sz="1600" dirty="0">
                <a:solidFill>
                  <a:srgbClr val="5F5A68"/>
                </a:solidFill>
                <a:latin typeface="Arial" pitchFamily="34" charset="0"/>
                <a:ea typeface="Arial" pitchFamily="34" charset="-122"/>
                <a:cs typeface="Arial" pitchFamily="34" charset="-120"/>
              </a:rPr>
              <a:t>You</a:t>
            </a:r>
            <a:endParaRPr lang="en-US" sz="1600" dirty="0"/>
          </a:p>
        </p:txBody>
      </p:sp>
      <p:sp>
        <p:nvSpPr>
          <p:cNvPr id="6" name="Shape 4"/>
          <p:cNvSpPr/>
          <p:nvPr/>
        </p:nvSpPr>
        <p:spPr>
          <a:xfrm>
            <a:off x="609600" y="2692400"/>
            <a:ext cx="10972800" cy="12700"/>
          </a:xfrm>
          <a:prstGeom prst="rect">
            <a:avLst/>
          </a:prstGeom>
          <a:solidFill>
            <a:srgbClr val="E6E2EC"/>
          </a:solidFill>
          <a:ln/>
        </p:spPr>
      </p:sp>
      <p:sp>
        <p:nvSpPr>
          <p:cNvPr id="7" name="Text 5"/>
          <p:cNvSpPr txBox="1"/>
          <p:nvPr/>
        </p:nvSpPr>
        <p:spPr>
          <a:xfrm>
            <a:off x="609600" y="2946400"/>
            <a:ext cx="2628900" cy="304800"/>
          </a:xfrm>
          <a:prstGeom prst="rect">
            <a:avLst/>
          </a:prstGeom>
          <a:noFill/>
          <a:ln/>
        </p:spPr>
        <p:txBody>
          <a:bodyPr wrap="square" lIns="0" tIns="0" rIns="0" bIns="0" rtlCol="0" anchor="t"/>
          <a:lstStyle/>
          <a:p>
            <a:pPr algn="l" indent="0" marL="0">
              <a:lnSpc>
                <a:spcPct val="135000"/>
              </a:lnSpc>
              <a:buNone/>
            </a:pPr>
            <a:r>
              <a:rPr lang="en-US" sz="1600" b="1" dirty="0">
                <a:solidFill>
                  <a:srgbClr val="7E22FF"/>
                </a:solidFill>
                <a:latin typeface="Arial" pitchFamily="34" charset="0"/>
                <a:ea typeface="Arial" pitchFamily="34" charset="-122"/>
                <a:cs typeface="Arial" pitchFamily="34" charset="-120"/>
              </a:rPr>
              <a:t>Week 2</a:t>
            </a:r>
            <a:endParaRPr lang="en-US" sz="1600" dirty="0"/>
          </a:p>
        </p:txBody>
      </p:sp>
      <p:sp>
        <p:nvSpPr>
          <p:cNvPr id="8" name="Text 6"/>
          <p:cNvSpPr txBox="1"/>
          <p:nvPr/>
        </p:nvSpPr>
        <p:spPr>
          <a:xfrm>
            <a:off x="3390900" y="2946400"/>
            <a:ext cx="54102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Detailed model and supplier shortlist</a:t>
            </a:r>
            <a:endParaRPr lang="en-US" sz="1600" dirty="0"/>
          </a:p>
        </p:txBody>
      </p:sp>
      <p:sp>
        <p:nvSpPr>
          <p:cNvPr id="9" name="Text 7"/>
          <p:cNvSpPr txBox="1"/>
          <p:nvPr/>
        </p:nvSpPr>
        <p:spPr>
          <a:xfrm>
            <a:off x="8953500" y="2946400"/>
            <a:ext cx="2628900" cy="304800"/>
          </a:xfrm>
          <a:prstGeom prst="rect">
            <a:avLst/>
          </a:prstGeom>
          <a:noFill/>
          <a:ln/>
        </p:spPr>
        <p:txBody>
          <a:bodyPr wrap="square" lIns="0" tIns="0" rIns="0" bIns="0" rtlCol="0" anchor="t"/>
          <a:lstStyle/>
          <a:p>
            <a:pPr algn="r" indent="0" marL="0">
              <a:lnSpc>
                <a:spcPct val="135000"/>
              </a:lnSpc>
              <a:buNone/>
            </a:pPr>
            <a:r>
              <a:rPr lang="en-US" sz="1600" dirty="0">
                <a:solidFill>
                  <a:srgbClr val="5F5A68"/>
                </a:solidFill>
                <a:latin typeface="Arial" pitchFamily="34" charset="0"/>
                <a:ea typeface="Arial" pitchFamily="34" charset="-122"/>
                <a:cs typeface="Arial" pitchFamily="34" charset="-120"/>
              </a:rPr>
              <a:t>Neufin</a:t>
            </a:r>
            <a:endParaRPr lang="en-US" sz="1600" dirty="0"/>
          </a:p>
        </p:txBody>
      </p:sp>
      <p:sp>
        <p:nvSpPr>
          <p:cNvPr id="10" name="Shape 8"/>
          <p:cNvSpPr/>
          <p:nvPr/>
        </p:nvSpPr>
        <p:spPr>
          <a:xfrm>
            <a:off x="609600" y="3556000"/>
            <a:ext cx="10972800" cy="12700"/>
          </a:xfrm>
          <a:prstGeom prst="rect">
            <a:avLst/>
          </a:prstGeom>
          <a:solidFill>
            <a:srgbClr val="E6E2EC"/>
          </a:solidFill>
          <a:ln/>
        </p:spPr>
      </p:sp>
      <p:sp>
        <p:nvSpPr>
          <p:cNvPr id="11" name="Text 9"/>
          <p:cNvSpPr txBox="1"/>
          <p:nvPr/>
        </p:nvSpPr>
        <p:spPr>
          <a:xfrm>
            <a:off x="609600" y="3810000"/>
            <a:ext cx="2628900" cy="304800"/>
          </a:xfrm>
          <a:prstGeom prst="rect">
            <a:avLst/>
          </a:prstGeom>
          <a:noFill/>
          <a:ln/>
        </p:spPr>
        <p:txBody>
          <a:bodyPr wrap="square" lIns="0" tIns="0" rIns="0" bIns="0" rtlCol="0" anchor="t"/>
          <a:lstStyle/>
          <a:p>
            <a:pPr algn="l" indent="0" marL="0">
              <a:lnSpc>
                <a:spcPct val="135000"/>
              </a:lnSpc>
              <a:buNone/>
            </a:pPr>
            <a:r>
              <a:rPr lang="en-US" sz="1600" b="1" dirty="0">
                <a:solidFill>
                  <a:srgbClr val="7E22FF"/>
                </a:solidFill>
                <a:latin typeface="Arial" pitchFamily="34" charset="0"/>
                <a:ea typeface="Arial" pitchFamily="34" charset="-122"/>
                <a:cs typeface="Arial" pitchFamily="34" charset="-120"/>
              </a:rPr>
              <a:t>Week 4</a:t>
            </a:r>
            <a:endParaRPr lang="en-US" sz="1600" dirty="0"/>
          </a:p>
        </p:txBody>
      </p:sp>
      <p:sp>
        <p:nvSpPr>
          <p:cNvPr id="12" name="Text 10"/>
          <p:cNvSpPr txBox="1"/>
          <p:nvPr/>
        </p:nvSpPr>
        <p:spPr>
          <a:xfrm>
            <a:off x="3390900" y="3810000"/>
            <a:ext cx="54102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Choose an option and sign the term sheet</a:t>
            </a:r>
            <a:endParaRPr lang="en-US" sz="1600" dirty="0"/>
          </a:p>
        </p:txBody>
      </p:sp>
      <p:sp>
        <p:nvSpPr>
          <p:cNvPr id="13" name="Text 11"/>
          <p:cNvSpPr txBox="1"/>
          <p:nvPr/>
        </p:nvSpPr>
        <p:spPr>
          <a:xfrm>
            <a:off x="8953500" y="3810000"/>
            <a:ext cx="2628900" cy="304800"/>
          </a:xfrm>
          <a:prstGeom prst="rect">
            <a:avLst/>
          </a:prstGeom>
          <a:noFill/>
          <a:ln/>
        </p:spPr>
        <p:txBody>
          <a:bodyPr wrap="square" lIns="0" tIns="0" rIns="0" bIns="0" rtlCol="0" anchor="t"/>
          <a:lstStyle/>
          <a:p>
            <a:pPr algn="r" indent="0" marL="0">
              <a:lnSpc>
                <a:spcPct val="135000"/>
              </a:lnSpc>
              <a:buNone/>
            </a:pPr>
            <a:r>
              <a:rPr lang="en-US" sz="1600" dirty="0">
                <a:solidFill>
                  <a:srgbClr val="5F5A68"/>
                </a:solidFill>
                <a:latin typeface="Arial" pitchFamily="34" charset="0"/>
                <a:ea typeface="Arial" pitchFamily="34" charset="-122"/>
                <a:cs typeface="Arial" pitchFamily="34" charset="-120"/>
              </a:rPr>
              <a:t>You and Neufin</a:t>
            </a:r>
            <a:endParaRPr lang="en-US" sz="1600" dirty="0"/>
          </a:p>
        </p:txBody>
      </p:sp>
      <p:sp>
        <p:nvSpPr>
          <p:cNvPr id="14" name="Shape 12"/>
          <p:cNvSpPr/>
          <p:nvPr/>
        </p:nvSpPr>
        <p:spPr>
          <a:xfrm>
            <a:off x="609600" y="4419600"/>
            <a:ext cx="10972800" cy="12700"/>
          </a:xfrm>
          <a:prstGeom prst="rect">
            <a:avLst/>
          </a:prstGeom>
          <a:solidFill>
            <a:srgbClr val="E6E2EC"/>
          </a:solidFill>
          <a:ln/>
        </p:spPr>
      </p:sp>
      <p:sp>
        <p:nvSpPr>
          <p:cNvPr id="15" name="Text 13"/>
          <p:cNvSpPr txBox="1"/>
          <p:nvPr/>
        </p:nvSpPr>
        <p:spPr>
          <a:xfrm>
            <a:off x="609600" y="4673600"/>
            <a:ext cx="2628900" cy="304800"/>
          </a:xfrm>
          <a:prstGeom prst="rect">
            <a:avLst/>
          </a:prstGeom>
          <a:noFill/>
          <a:ln/>
        </p:spPr>
        <p:txBody>
          <a:bodyPr wrap="square" lIns="0" tIns="0" rIns="0" bIns="0" rtlCol="0" anchor="t"/>
          <a:lstStyle/>
          <a:p>
            <a:pPr algn="l" indent="0" marL="0">
              <a:lnSpc>
                <a:spcPct val="135000"/>
              </a:lnSpc>
              <a:buNone/>
            </a:pPr>
            <a:r>
              <a:rPr lang="en-US" sz="1600" b="1" dirty="0">
                <a:solidFill>
                  <a:srgbClr val="7E22FF"/>
                </a:solidFill>
                <a:latin typeface="Arial" pitchFamily="34" charset="0"/>
                <a:ea typeface="Arial" pitchFamily="34" charset="-122"/>
                <a:cs typeface="Arial" pitchFamily="34" charset="-120"/>
              </a:rPr>
              <a:t>Month 3</a:t>
            </a:r>
            <a:endParaRPr lang="en-US" sz="1600" dirty="0"/>
          </a:p>
        </p:txBody>
      </p:sp>
      <p:sp>
        <p:nvSpPr>
          <p:cNvPr id="16" name="Text 14"/>
          <p:cNvSpPr txBox="1"/>
          <p:nvPr/>
        </p:nvSpPr>
        <p:spPr>
          <a:xfrm>
            <a:off x="3390900" y="4673600"/>
            <a:ext cx="5410200" cy="3048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Power supply starts</a:t>
            </a:r>
            <a:endParaRPr lang="en-US" sz="1600" dirty="0"/>
          </a:p>
        </p:txBody>
      </p:sp>
      <p:sp>
        <p:nvSpPr>
          <p:cNvPr id="17" name="Text 15"/>
          <p:cNvSpPr txBox="1"/>
          <p:nvPr/>
        </p:nvSpPr>
        <p:spPr>
          <a:xfrm>
            <a:off x="8953500" y="4673600"/>
            <a:ext cx="2628900" cy="304800"/>
          </a:xfrm>
          <a:prstGeom prst="rect">
            <a:avLst/>
          </a:prstGeom>
          <a:noFill/>
          <a:ln/>
        </p:spPr>
        <p:txBody>
          <a:bodyPr wrap="square" lIns="0" tIns="0" rIns="0" bIns="0" rtlCol="0" anchor="t"/>
          <a:lstStyle/>
          <a:p>
            <a:pPr algn="r" indent="0" marL="0">
              <a:lnSpc>
                <a:spcPct val="135000"/>
              </a:lnSpc>
              <a:buNone/>
            </a:pPr>
            <a:r>
              <a:rPr lang="en-US" sz="1600" dirty="0">
                <a:solidFill>
                  <a:srgbClr val="5F5A68"/>
                </a:solidFill>
                <a:latin typeface="Arial" pitchFamily="34" charset="0"/>
                <a:ea typeface="Arial" pitchFamily="34" charset="-122"/>
                <a:cs typeface="Arial" pitchFamily="34" charset="-120"/>
              </a:rPr>
              <a:t>Neufin</a:t>
            </a:r>
            <a:endParaRPr lang="en-US" sz="1600" dirty="0"/>
          </a:p>
        </p:txBody>
      </p:sp>
      <p:sp>
        <p:nvSpPr>
          <p:cNvPr id="18" name="Text 0"/>
          <p:cNvSpPr/>
          <p:nvPr>
            <p:ph idx="101" type="title" hasCustomPrompt="1"/>
          </p:nvPr>
        </p:nvSpPr>
        <p:spPr>
          <a:xfrm>
            <a:off x="609600" y="558800"/>
            <a:ext cx="10972800" cy="863600"/>
          </a:xfrm>
          <a:prstGeom prst="rect">
            <a:avLst/>
          </a:prstGeom>
          <a:noFill/>
          <a:ln/>
        </p:spPr>
        <p:txBody>
          <a:bodyPr wrap="square" lIns="0" tIns="0" rIns="0" bIns="0" rtlCol="0" anchor="t"/>
          <a:lstStyle/>
          <a:p>
            <a:pPr algn="l" indent="0" marL="0">
              <a:lnSpc>
                <a:spcPct val="115000"/>
              </a:lnSpc>
              <a:buNone/>
            </a:pPr>
            <a:r>
              <a:rPr lang="en-US" sz="2800" b="1" dirty="0">
                <a:solidFill>
                  <a:srgbClr val="19161F"/>
                </a:solidFill>
                <a:latin typeface="Arial" pitchFamily="34" charset="0"/>
                <a:ea typeface="Arial" pitchFamily="34" charset="-122"/>
                <a:cs typeface="Arial" pitchFamily="34" charset="-120"/>
              </a:rPr>
              <a:t>Next steps</a:t>
            </a:r>
            <a:endParaRPr lang="en-US" sz="2800" dirty="0"/>
          </a:p>
        </p:txBody>
      </p:sp>
      <p:sp>
        <p:nvSpPr>
          <p:cNvPr id="25" name="Slide Number Placeholder 0"/>
          <p:cNvSpPr>
            <a:spLocks noGrp="1"/>
          </p:cNvSpPr>
          <p:nvPr>
            <p:ph type="sldNum" sz="quarter" idx="4294967295"/>
          </p:nvPr>
        </p:nvSpPr>
        <p:spPr>
          <a:xfrm>
            <a:off x="10820400" y="6311900"/>
            <a:ext cx="762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F5A68"/>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099300" y="5854700"/>
            <a:ext cx="4483100" cy="279400"/>
          </a:xfrm>
          <a:prstGeom prst="rect">
            <a:avLst/>
          </a:prstGeom>
          <a:noFill/>
          <a:ln/>
        </p:spPr>
        <p:txBody>
          <a:bodyPr wrap="square" lIns="0" tIns="0" rIns="0" bIns="0" rtlCol="0" anchor="t"/>
          <a:lstStyle/>
          <a:p>
            <a:pPr algn="l" indent="0" marL="0">
              <a:lnSpc>
                <a:spcPct val="135000"/>
              </a:lnSpc>
              <a:buNone/>
            </a:pPr>
            <a:r>
              <a:rPr lang="en-US" sz="1600" b="1" dirty="0">
                <a:solidFill>
                  <a:srgbClr val="19161F"/>
                </a:solidFill>
                <a:latin typeface="Arial" pitchFamily="34" charset="0"/>
                <a:ea typeface="Arial" pitchFamily="34" charset="-122"/>
                <a:cs typeface="Arial" pitchFamily="34" charset="-120"/>
              </a:rPr>
              <a:t>Firstname Lastname</a:t>
            </a:r>
            <a:endParaRPr lang="en-US" sz="1600" dirty="0"/>
          </a:p>
        </p:txBody>
      </p:sp>
      <p:sp>
        <p:nvSpPr>
          <p:cNvPr id="3" name="Text 1"/>
          <p:cNvSpPr txBox="1"/>
          <p:nvPr/>
        </p:nvSpPr>
        <p:spPr>
          <a:xfrm>
            <a:off x="7099300" y="6134100"/>
            <a:ext cx="4483100" cy="279400"/>
          </a:xfrm>
          <a:prstGeom prst="rect">
            <a:avLst/>
          </a:prstGeom>
          <a:noFill/>
          <a:ln/>
        </p:spPr>
        <p:txBody>
          <a:bodyPr wrap="square" lIns="0" tIns="0" rIns="0" bIns="0" rtlCol="0" anchor="t"/>
          <a:lstStyle/>
          <a:p>
            <a:pPr algn="l" indent="0" marL="0">
              <a:lnSpc>
                <a:spcPct val="135000"/>
              </a:lnSpc>
              <a:buNone/>
            </a:pPr>
            <a:r>
              <a:rPr lang="en-US" sz="1600" dirty="0">
                <a:solidFill>
                  <a:srgbClr val="19161F"/>
                </a:solidFill>
                <a:latin typeface="Arial" pitchFamily="34" charset="0"/>
                <a:ea typeface="Arial" pitchFamily="34" charset="-122"/>
                <a:cs typeface="Arial" pitchFamily="34" charset="-120"/>
              </a:rPr>
              <a:t>name@neufin.energy · +91 00000 00000</a:t>
            </a:r>
            <a:endParaRPr lang="en-US" sz="1600" dirty="0"/>
          </a:p>
        </p:txBody>
      </p:sp>
      <p:sp>
        <p:nvSpPr>
          <p:cNvPr id="4" name="Text 0"/>
          <p:cNvSpPr/>
          <p:nvPr>
            <p:ph idx="102" type="title" hasCustomPrompt="1"/>
          </p:nvPr>
        </p:nvSpPr>
        <p:spPr>
          <a:xfrm>
            <a:off x="609600" y="1625600"/>
            <a:ext cx="81915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Send us your</a:t>
            </a:r>
            <a:endParaRPr lang="en-US" sz="4800" dirty="0"/>
          </a:p>
          <a:p>
            <a:pPr algn="l" indent="0" marL="0">
              <a:lnSpc>
                <a:spcPct val="105000"/>
              </a:lnSpc>
              <a:buNone/>
            </a:pPr>
            <a:r>
              <a:rPr lang="en-US" sz="4800" b="1" dirty="0">
                <a:solidFill>
                  <a:srgbClr val="FFFFFF"/>
                </a:solidFill>
                <a:latin typeface="Arial" pitchFamily="34" charset="0"/>
                <a:ea typeface="Arial" pitchFamily="34" charset="-122"/>
                <a:cs typeface="Arial" pitchFamily="34" charset="-120"/>
              </a:rPr>
              <a:t>latest power bill</a:t>
            </a:r>
            <a:endParaRPr lang="en-US" sz="4800" dirty="0"/>
          </a:p>
        </p:txBody>
      </p:sp>
      <p:sp>
        <p:nvSpPr>
          <p:cNvPr id="5" name="Text 0"/>
          <p:cNvSpPr/>
          <p:nvPr>
            <p:ph idx="103" type="body" hasCustomPrompt="1"/>
          </p:nvPr>
        </p:nvSpPr>
        <p:spPr>
          <a:xfrm>
            <a:off x="609600" y="3302000"/>
            <a:ext cx="8191500" cy="609600"/>
          </a:xfrm>
          <a:prstGeom prst="rect">
            <a:avLst/>
          </a:prstGeom>
          <a:noFill/>
          <a:ln/>
        </p:spPr>
        <p:txBody>
          <a:bodyPr wrap="square" lIns="0" tIns="0" rIns="0" bIns="0" rtlCol="0" anchor="t"/>
          <a:lstStyle/>
          <a:p>
            <a:pPr algn="l" indent="0" marL="0">
              <a:lnSpc>
                <a:spcPct val="135000"/>
              </a:lnSpc>
              <a:buNone/>
            </a:pPr>
            <a:r>
              <a:rPr lang="en-US" sz="1600" dirty="0">
                <a:solidFill>
                  <a:srgbClr val="FFFFFF"/>
                </a:solidFill>
                <a:latin typeface="Arial" pitchFamily="34" charset="0"/>
                <a:ea typeface="Arial" pitchFamily="34" charset="-122"/>
                <a:cs typeface="Arial" pitchFamily="34" charset="-120"/>
              </a:rPr>
              <a:t>We’ll show you what you could save.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Neufo Technologies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Neufin sales deck template</dc:title>
  <dc:subject>PptxGenJS Presentation</dc:subject>
  <dc:creator>PptxGenJS</dc:creator>
  <cp:lastModifiedBy>PptxGenJS</cp:lastModifiedBy>
  <cp:revision>1</cp:revision>
  <dcterms:created xsi:type="dcterms:W3CDTF">2026-10-15T05:55:32Z</dcterms:created>
  <dcterms:modified xsi:type="dcterms:W3CDTF">2026-10-15T05:55:32Z</dcterms:modified>
</cp:coreProperties>
</file>